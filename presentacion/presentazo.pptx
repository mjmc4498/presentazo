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ción" id="{9e82da7c-9516-63de-02d0-85b3806c8383}">
          <p14:sldIdLst>
            <p14:sldId id="256"/>
            <p14:sldId id="257"/>
            <p14:sldId id="258"/>
            <p14:sldId id="259"/>
          </p14:sldIdLst>
        </p14:section>
        <p14:section name="Funciones" id="{04962323-cdae-e16e-605c-c1b7d31e0e7b}">
          <p14:sldIdLst>
            <p14:sldId id="260"/>
            <p14:sldId id="261"/>
            <p14:sldId id="262"/>
          </p14:sldIdLst>
        </p14:section>
        <p14:section name="Valor" id="{d823885a-1bb4-aca7-aa0b-82979708357c}">
          <p14:sldIdLst>
            <p14:sldId id="263"/>
            <p14:sldId id="264"/>
            <p14:sldId id="265"/>
          </p14:sldIdLst>
        </p14:section>
        <p14:section name="Tecnología" id="{9037c723-56ba-e06a-3272-129b81337fac}">
          <p14:sldIdLst>
            <p14:sldId id="266"/>
            <p14:sldId id="267"/>
            <p14:sldId id="268"/>
          </p14:sldIdLst>
        </p14:section>
        <p14:section name="Cierre" id="{4f8c8251-fbcf-4905-6c50-573c96043c23}">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Presentazo convierte el celular en el control remoto de cualquier presentación: avanzar diapositivas, puntero láser, lápiz, mouse y teclado. Funciona como extensión de Chrome y como app para Windows y Mac. Se conecta escaneando un código QR, sin instalar nada en el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Hoy, para cambiar de diapositiva hay que volver a la computadora o comprar un control físico. Los punteros láser físicos casi no se ven en televisores o pantallas LED, y hacer clic o escribir algo obliga a interrumpir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extensión muestra un código QR. Al escanearlo, el celular abre el control en su navegador: no hay que instalar ninguna app ni crear cuentas. La conexión es directa y cifrada entre el celular y la computadora.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Paso 1: abrir la presentación en Chrome. Paso 2: hacer clic en el ícono de Presentazo o pulsar Alt+Shift+M y escanear el QR con la cámara. Paso 3: presentar desde el celular. Por seguridad, cada sesión genera un código QR nuevo.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pantalla principal tiene un botón grande para avanzar, pensado para usarse con el pulgar, y otro para retroceder. Desde aquí también se inicia la presentación, se activa la pantalla negra y se lleva el tiempo con el cronómetro.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Deslizando el dedo sobre el celular se mueve un láser digital con estela, que se ve bien en televisores y pantallas LED. El modo foco oscurece la pantalla y resalta un círculo; el lápiz permite dibujar en colores sobre la diapositiva. Con el modo aire se apunta moviendo el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celular también funciona como panel táctil: se mueve un cursor sobre la presentación y se hace clic, doble clic, clic derecho o se arrastra. Lo que se escribe en el teclado del celular aparece al instante en la computadora, incluso dentro de PowerPoint para la web.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beneficios principales: no hay que instalar nada, es gratis y no requiere hardware, da libertad de movimiento, el láser digital se ve en cualquier pantalla, reúne todas las herramientas en un solo lugar y respeta la privacidad.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Presentazo funciona con cualquier presentación que avance con el teclado. Google Slides y reveal.js se verificaron con presentaciones reales. El control funciona en celulares desde 320 píxeles y en tablets. En la computadora se usa la extensión de Chrome o la app para Windows y 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Presentazo ya tiene app para la computadora. Hay instaladores para Windows, para Mac con procesador Intel y para Mac con chip M, cada uno con una versión que se instala y otra portable. La app controla cualquier programa: PowerPoint, Keynote, un PDF o el navegador. Además permite elegir qué controlar: una pantalla, un programa o una pestaña del navegador. En el celular se usa el mismo control remoto que con la extensión.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celular y la computadora se comunican de forma directa mediante WebRTC, cifrado de punto a punto. Un servidor de señalización gratuito solo se usa para que los dos dispositivos se encuentren; después ya no participa. Si la red bloquea la conexión directa, el tráfico, todavía cifrado, pasa por el servidor de retransmisión de Cloudflare. La clave secreta viaja dentro del QR y nunca se envía al servidor.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seguridad está en el diseño: conexión cifrada de extremo a extremo, la clave secreta solo existe en el QR, Presentazo solo actúa en la pestaña donde se pulsa su ícono y no pide acceso a todos los sitios, no hay cuentas ni recopilación de datos y un botón permite renovar el código en cualquier momento.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Presentazo se probó de punta a punta con pruebas automáticas que conectan la extensión y el celular de verdad: 42 de 42 comprobaciones superadas. La interfaz se revisó en 28 combinaciones de pantalla y vista. Si se corta el servidor, se reconecta solo en unos 3 segundos sin desconectar al celular.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Varias metas ya están cumplidas. Hay instaladores de la app para Windows, Mac con procesador Intel y Mac con chip M. También funcionan la retransmisión con Cloudflare para redes de empresa, la protección de costos que pausa el servicio antes de pasar la cuota gratuita, el código QR nuevo en cada sesión y el control web publicado. Lo que sigue es la aprobación en la Chrome Web Store, donde la versión 1.1 llegará con el nuevo nombre Presentazo; firmar los instaladores con Apple y Microsoft para quitar el aviso de seguridad; y evaluar una app para Apple Watch. Los límites que se mantienen son técnicos: se necesita internet, y Chrome no permite extensiones en sus páginas internas.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Presentazo permite presentar con libertad: escanear, conectar y presentar desde el celular. El código QR de la diapositiva lleva al repositorio en GitHub, donde está todo 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agradecer al público y abrir el espacio de preguntas. Si alguien quiere probarlo, puede escanear el código de la diapositiva anterior para ver el proyecto en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788920"/>
            <a:ext cx="5257800" cy="105156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822960" y="3977640"/>
            <a:ext cx="5120640" cy="91440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
        <p:nvSpPr>
          <p:cNvPr id="4" name="Text 0"/>
          <p:cNvSpPr/>
          <p:nvPr>
            <p:ph idx="102" type="body" hasCustomPrompt="1"/>
          </p:nvPr>
        </p:nvSpPr>
        <p:spPr>
          <a:xfrm>
            <a:off x="822960" y="5760720"/>
            <a:ext cx="4754880" cy="365760"/>
          </a:xfrm>
          <a:prstGeom prst="rect">
            <a:avLst/>
          </a:prstGeom>
          <a:noFill/>
          <a:ln/>
        </p:spPr>
        <p:txBody>
          <a:bodyPr wrap="square" rtlCol="0"/>
          <a:lstStyle>
            <a:lvl1pPr algn="l" indent="0" marL="0">
              <a:buNone/>
              <a:defRPr lang="en-US" sz="1200" dirty="0">
                <a:solidFill>
                  <a:schemeClr val="accent5"/>
                </a:solidFill>
              </a:defRPr>
            </a:lvl1pPr>
          </a:lstStyle>
          <a:p>
            <a:pPr algn="l"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4" name="Text 0"/>
          <p:cNvSpPr/>
          <p:nvPr/>
        </p:nvSpPr>
        <p:spPr>
          <a:xfrm>
            <a:off x="640080" y="6382512"/>
            <a:ext cx="5486400" cy="256032"/>
          </a:xfrm>
          <a:prstGeom prst="rect">
            <a:avLst/>
          </a:prstGeom>
          <a:noFill/>
          <a:ln/>
        </p:spPr>
        <p:txBody>
          <a:bodyPr wrap="square" lIns="0" tIns="0" rIns="0" bIns="0" rtlCol="0" anchor="ctr"/>
          <a:lstStyle/>
          <a:p>
            <a:pPr indent="0" marL="0">
              <a:buNone/>
            </a:pPr>
            <a:r>
              <a:rPr lang="en-US" sz="1000" dirty="0">
                <a:solidFill>
                  <a:schemeClr val="accent6"/>
                </a:solidFill>
              </a:rPr>
              <a:t>Presentazo · Control remoto de presentaciones</a:t>
            </a:r>
            <a:endParaRPr lang="en-US" sz="10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_OSCURO">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rtlCol="0"/>
          <a:lstStyle>
            <a:lvl1pPr algn="l" indent="0" marL="0">
              <a:buNone/>
              <a:defRPr lang="en-US" sz="1200" b="1" spc="200" kern="0" dirty="0">
                <a:solidFill>
                  <a:schemeClr val="accent1"/>
                </a:solidFill>
              </a:defRPr>
            </a:lvl1pPr>
          </a:lstStyle>
          <a:p>
            <a:pPr algn="l" indent="0" marL="0">
              <a:buNone/>
            </a:pP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0"/>
          <p:cNvSpPr/>
          <p:nvPr/>
        </p:nvSpPr>
        <p:spPr>
          <a:xfrm>
            <a:off x="640080" y="6382512"/>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Presentazo · Control remoto de presentaciones</a:t>
            </a:r>
            <a:endParaRPr lang="en-US" sz="10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IER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6949440" cy="914400"/>
          </a:xfrm>
          <a:prstGeom prst="rect">
            <a:avLst/>
          </a:prstGeom>
          <a:noFill/>
          <a:ln/>
        </p:spPr>
        <p:txBody>
          <a:bodyPr wrap="square" rtlCol="0"/>
          <a:lstStyle>
            <a:lvl1pPr algn="l" indent="0" marL="0">
              <a:buNone/>
              <a:defRPr lang="en-US" sz="5200" b="1" dirty="0">
                <a:solidFill>
                  <a:schemeClr val="bg1"/>
                </a:solidFill>
              </a:defRPr>
            </a:lvl1pPr>
          </a:lstStyle>
          <a:p>
            <a:pPr algn="l" indent="0" marL="0">
              <a:buNone/>
            </a:pPr>
            <a:endParaRPr lang="en-US" sz="5200" dirty="0"/>
          </a:p>
        </p:txBody>
      </p:sp>
      <p:sp>
        <p:nvSpPr>
          <p:cNvPr id="3" name="Text 0"/>
          <p:cNvSpPr/>
          <p:nvPr>
            <p:ph idx="101" type="body" hasCustomPrompt="1"/>
          </p:nvPr>
        </p:nvSpPr>
        <p:spPr>
          <a:xfrm>
            <a:off x="640080" y="2926080"/>
            <a:ext cx="6949440" cy="548640"/>
          </a:xfrm>
          <a:prstGeom prst="rect">
            <a:avLst/>
          </a:prstGeom>
          <a:noFill/>
          <a:ln/>
        </p:spPr>
        <p:txBody>
          <a:bodyPr wrap="square" rtlCol="0"/>
          <a:lstStyle>
            <a:lvl1pPr algn="l" indent="0" marL="0">
              <a:buNone/>
              <a:defRPr lang="en-US" sz="2000" dirty="0">
                <a:solidFill>
                  <a:schemeClr val="accent5"/>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jp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slideLayout" Target="../slideLayouts/slideLayout3.xml"/><Relationship Id="rId9"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3.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3.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3.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3.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slideLayout" Target="../slideLayouts/slideLayout5.xml"/><Relationship Id="rId7"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jpg"/><Relationship Id="rId3" Type="http://schemas.openxmlformats.org/officeDocument/2006/relationships/image" Target="../media/image-16-3.png"/><Relationship Id="rId4" Type="http://schemas.openxmlformats.org/officeDocument/2006/relationships/slideLayout" Target="../slideLayouts/slideLayout2.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Logo de Presentazo">    </p:cNvPr>
          <p:cNvPicPr>
            <a:picLocks noChangeAspect="1"/>
          </p:cNvPicPr>
          <p:nvPr/>
        </p:nvPicPr>
        <p:blipFill>
          <a:blip r:embed="rId1"/>
          <a:stretch>
            <a:fillRect/>
          </a:stretch>
        </p:blipFill>
        <p:spPr>
          <a:xfrm>
            <a:off x="680314" y="1417320"/>
            <a:ext cx="1143000" cy="1143000"/>
          </a:xfrm>
          <a:prstGeom prst="rect">
            <a:avLst/>
          </a:prstGeom>
        </p:spPr>
      </p:pic>
      <p:sp>
        <p:nvSpPr>
          <p:cNvPr id="3" name="Text 0"/>
          <p:cNvSpPr/>
          <p:nvPr>
            <p:ph idx="100" type="title" hasCustomPrompt="1"/>
          </p:nvPr>
        </p:nvSpPr>
        <p:spPr>
          <a:xfrm>
            <a:off x="822960" y="2788920"/>
            <a:ext cx="5257800" cy="1051560"/>
          </a:xfrm>
          <a:prstGeom prst="rect">
            <a:avLst/>
          </a:prstGeom>
          <a:noFill/>
          <a:ln/>
        </p:spPr>
        <p:txBody>
          <a:bodyPr wrap="square" lIns="0" tIns="0" rIns="0" bIns="0" rtlCol="0" anchor="b"/>
          <a:lstStyle/>
          <a:p>
            <a:pPr algn="l" indent="0" marL="0">
              <a:buNone/>
            </a:pPr>
            <a:r>
              <a:rPr lang="en-US" sz="6000" b="1" dirty="0">
                <a:solidFill>
                  <a:schemeClr val="bg1"/>
                </a:solidFill>
              </a:rPr>
              <a:t>Presentazo</a:t>
            </a:r>
            <a:endParaRPr lang="en-US" sz="6000" dirty="0"/>
          </a:p>
        </p:txBody>
      </p:sp>
      <p:sp>
        <p:nvSpPr>
          <p:cNvPr id="4" name="Text 0"/>
          <p:cNvSpPr/>
          <p:nvPr>
            <p:ph idx="101" type="body" hasCustomPrompt="1"/>
          </p:nvPr>
        </p:nvSpPr>
        <p:spPr>
          <a:xfrm>
            <a:off x="822960" y="3977640"/>
            <a:ext cx="5120640" cy="914400"/>
          </a:xfrm>
          <a:prstGeom prst="rect">
            <a:avLst/>
          </a:prstGeom>
          <a:noFill/>
          <a:ln/>
        </p:spPr>
        <p:txBody>
          <a:bodyPr wrap="square" lIns="0" tIns="0" rIns="0" bIns="0" rtlCol="0" anchor="t"/>
          <a:lstStyle/>
          <a:p>
            <a:pPr algn="l" indent="0" marL="0">
              <a:buNone/>
            </a:pPr>
            <a:r>
              <a:rPr lang="en-US" sz="2000" dirty="0">
                <a:solidFill>
                  <a:schemeClr val="accent5"/>
                </a:solidFill>
              </a:rPr>
              <a:t>Controla tus presentaciones desde el celular</a:t>
            </a:r>
            <a:endParaRPr lang="en-US" sz="2000" dirty="0"/>
          </a:p>
        </p:txBody>
      </p:sp>
      <p:sp>
        <p:nvSpPr>
          <p:cNvPr id="5" name="Text 0"/>
          <p:cNvSpPr/>
          <p:nvPr>
            <p:ph idx="102" type="body" hasCustomPrompt="1"/>
          </p:nvPr>
        </p:nvSpPr>
        <p:spPr>
          <a:xfrm>
            <a:off x="822960" y="5760720"/>
            <a:ext cx="4754880" cy="365760"/>
          </a:xfrm>
          <a:prstGeom prst="rect">
            <a:avLst/>
          </a:prstGeom>
          <a:noFill/>
          <a:ln/>
        </p:spPr>
        <p:txBody>
          <a:bodyPr wrap="square" lIns="0" tIns="0" rIns="0" bIns="0" rtlCol="0" anchor="ctr"/>
          <a:lstStyle/>
          <a:p>
            <a:pPr algn="l" indent="0" marL="0">
              <a:buNone/>
            </a:pPr>
            <a:r>
              <a:rPr lang="en-US" sz="1200" dirty="0">
                <a:solidFill>
                  <a:schemeClr val="accent5"/>
                </a:solidFill>
              </a:rPr>
              <a:t>Miguel Mogrovejo · Octubre de 2026</a:t>
            </a:r>
            <a:endParaRPr lang="en-US" sz="1200" dirty="0"/>
          </a:p>
        </p:txBody>
      </p:sp>
      <p:sp>
        <p:nvSpPr>
          <p:cNvPr id="6" name="marco-1"/>
          <p:cNvSpPr/>
          <p:nvPr/>
        </p:nvSpPr>
        <p:spPr>
          <a:xfrm>
            <a:off x="6126480" y="1691640"/>
            <a:ext cx="4754880" cy="2674620"/>
          </a:xfrm>
          <a:prstGeom prst="rect">
            <a:avLst/>
          </a:prstGeom>
          <a:solidFill>
            <a:schemeClr val="bg1"/>
          </a:solidFill>
          <a:ln w="12700">
            <a:solidFill>
              <a:srgbClr val="3A3A3C"/>
            </a:solidFill>
            <a:prstDash val="solid"/>
          </a:ln>
        </p:spPr>
      </p:sp>
      <p:pic>
        <p:nvPicPr>
          <p:cNvPr id="7" name="captura-2" descr="Diapositiva con el puntero láser de Presentazo">    </p:cNvPr>
          <p:cNvPicPr>
            <a:picLocks noChangeAspect="1"/>
          </p:cNvPicPr>
          <p:nvPr/>
        </p:nvPicPr>
        <p:blipFill>
          <a:blip r:embed="rId2"/>
          <a:stretch>
            <a:fillRect/>
          </a:stretch>
        </p:blipFill>
        <p:spPr>
          <a:xfrm>
            <a:off x="6126480" y="1691640"/>
            <a:ext cx="4754880" cy="2674620"/>
          </a:xfrm>
          <a:prstGeom prst="rect">
            <a:avLst/>
          </a:prstGeom>
        </p:spPr>
      </p:pic>
      <p:pic>
        <p:nvPicPr>
          <p:cNvPr id="8" name="celular-3" descr="Control de Presentazo en el celular">    </p:cNvPr>
          <p:cNvPicPr>
            <a:picLocks noChangeAspect="1"/>
          </p:cNvPicPr>
          <p:nvPr/>
        </p:nvPicPr>
        <p:blipFill>
          <a:blip r:embed="rId3"/>
          <a:stretch>
            <a:fillRect/>
          </a:stretch>
        </p:blipFill>
        <p:spPr>
          <a:xfrm>
            <a:off x="9326880" y="960120"/>
            <a:ext cx="2349142" cy="49377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EL RETO</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Presentar no debería atarte a la computadora</a:t>
            </a:r>
            <a:endParaRPr lang="en-US" sz="3600" dirty="0"/>
          </a:p>
        </p:txBody>
      </p:sp>
      <p:sp>
        <p:nvSpPr>
          <p:cNvPr id="4" name="tarjeta-4"/>
          <p:cNvSpPr/>
          <p:nvPr/>
        </p:nvSpPr>
        <p:spPr>
          <a:xfrm>
            <a:off x="640080" y="1920240"/>
            <a:ext cx="2522144" cy="3017520"/>
          </a:xfrm>
          <a:prstGeom prst="roundRect">
            <a:avLst>
              <a:gd name="adj" fmla="val 5801"/>
            </a:avLst>
          </a:prstGeom>
          <a:solidFill>
            <a:schemeClr val="bg2"/>
          </a:solidFill>
          <a:ln/>
        </p:spPr>
      </p:sp>
      <p:sp>
        <p:nvSpPr>
          <p:cNvPr id="5" name="icono-fondo-5"/>
          <p:cNvSpPr/>
          <p:nvPr/>
        </p:nvSpPr>
        <p:spPr>
          <a:xfrm>
            <a:off x="960120" y="2240280"/>
            <a:ext cx="685800" cy="685800"/>
          </a:xfrm>
          <a:prstGeom prst="roundRect">
            <a:avLst>
              <a:gd name="adj" fmla="val 26000"/>
            </a:avLst>
          </a:prstGeom>
          <a:solidFill>
            <a:schemeClr val="tx1"/>
          </a:solidFill>
          <a:ln/>
        </p:spPr>
      </p:sp>
      <p:pic>
        <p:nvPicPr>
          <p:cNvPr id="6" name="icono-LuKeyboard-6" descr="preencoded.png">    </p:cNvPr>
          <p:cNvPicPr>
            <a:picLocks noChangeAspect="1"/>
          </p:cNvPicPr>
          <p:nvPr/>
        </p:nvPicPr>
        <p:blipFill>
          <a:blip r:embed="rId1"/>
          <a:stretch>
            <a:fillRect/>
          </a:stretch>
        </p:blipFill>
        <p:spPr>
          <a:xfrm>
            <a:off x="1124712" y="2404872"/>
            <a:ext cx="356616" cy="356616"/>
          </a:xfrm>
          <a:prstGeom prst="rect">
            <a:avLst/>
          </a:prstGeom>
        </p:spPr>
      </p:pic>
      <p:sp>
        <p:nvSpPr>
          <p:cNvPr id="7" name="texto-7"/>
          <p:cNvSpPr txBox="1"/>
          <p:nvPr/>
        </p:nvSpPr>
        <p:spPr>
          <a:xfrm>
            <a:off x="960120" y="3200400"/>
            <a:ext cx="1882064" cy="15544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Atado al teclado</a:t>
            </a:r>
            <a:endParaRPr lang="en-US" sz="1800" dirty="0"/>
          </a:p>
          <a:p>
            <a:pPr indent="0" marL="0">
              <a:buNone/>
            </a:pPr>
            <a:r>
              <a:rPr lang="en-US" sz="1400" dirty="0">
                <a:solidFill>
                  <a:schemeClr val="accent6"/>
                </a:solidFill>
              </a:rPr>
              <a:t>Cada cambio de diapositiva te obliga a volver a la computadora.</a:t>
            </a:r>
            <a:endParaRPr lang="en-US" sz="1800" dirty="0"/>
          </a:p>
        </p:txBody>
      </p:sp>
      <p:sp>
        <p:nvSpPr>
          <p:cNvPr id="8" name="tarjeta-8"/>
          <p:cNvSpPr/>
          <p:nvPr/>
        </p:nvSpPr>
        <p:spPr>
          <a:xfrm>
            <a:off x="3436544" y="1920240"/>
            <a:ext cx="2522144" cy="3017520"/>
          </a:xfrm>
          <a:prstGeom prst="roundRect">
            <a:avLst>
              <a:gd name="adj" fmla="val 5801"/>
            </a:avLst>
          </a:prstGeom>
          <a:solidFill>
            <a:schemeClr val="bg2"/>
          </a:solidFill>
          <a:ln/>
        </p:spPr>
      </p:sp>
      <p:sp>
        <p:nvSpPr>
          <p:cNvPr id="9" name="icono-fondo-9"/>
          <p:cNvSpPr/>
          <p:nvPr/>
        </p:nvSpPr>
        <p:spPr>
          <a:xfrm>
            <a:off x="3756584" y="2240280"/>
            <a:ext cx="685800" cy="685800"/>
          </a:xfrm>
          <a:prstGeom prst="roundRect">
            <a:avLst>
              <a:gd name="adj" fmla="val 26000"/>
            </a:avLst>
          </a:prstGeom>
          <a:solidFill>
            <a:schemeClr val="tx1"/>
          </a:solidFill>
          <a:ln/>
        </p:spPr>
      </p:sp>
      <p:pic>
        <p:nvPicPr>
          <p:cNvPr id="10" name="icono-LuUsb-10" descr="preencoded.png">    </p:cNvPr>
          <p:cNvPicPr>
            <a:picLocks noChangeAspect="1"/>
          </p:cNvPicPr>
          <p:nvPr/>
        </p:nvPicPr>
        <p:blipFill>
          <a:blip r:embed="rId2"/>
          <a:stretch>
            <a:fillRect/>
          </a:stretch>
        </p:blipFill>
        <p:spPr>
          <a:xfrm>
            <a:off x="3921176" y="2404872"/>
            <a:ext cx="356616" cy="356616"/>
          </a:xfrm>
          <a:prstGeom prst="rect">
            <a:avLst/>
          </a:prstGeom>
        </p:spPr>
      </p:pic>
      <p:sp>
        <p:nvSpPr>
          <p:cNvPr id="11" name="texto-11"/>
          <p:cNvSpPr txBox="1"/>
          <p:nvPr/>
        </p:nvSpPr>
        <p:spPr>
          <a:xfrm>
            <a:off x="3756584" y="3200400"/>
            <a:ext cx="1882064" cy="15544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Controles físicos</a:t>
            </a:r>
            <a:endParaRPr lang="en-US" sz="1800" dirty="0"/>
          </a:p>
          <a:p>
            <a:pPr indent="0" marL="0">
              <a:buNone/>
            </a:pPr>
            <a:r>
              <a:rPr lang="en-US" sz="1400" dirty="0">
                <a:solidFill>
                  <a:schemeClr val="accent6"/>
                </a:solidFill>
              </a:rPr>
              <a:t>Cuestan dinero, usan pilas y un receptor USB que se olvida o se pierde.</a:t>
            </a:r>
            <a:endParaRPr lang="en-US" sz="1800" dirty="0"/>
          </a:p>
        </p:txBody>
      </p:sp>
      <p:sp>
        <p:nvSpPr>
          <p:cNvPr id="12" name="tarjeta-12"/>
          <p:cNvSpPr/>
          <p:nvPr/>
        </p:nvSpPr>
        <p:spPr>
          <a:xfrm>
            <a:off x="6233008" y="1920240"/>
            <a:ext cx="2522144" cy="3017520"/>
          </a:xfrm>
          <a:prstGeom prst="roundRect">
            <a:avLst>
              <a:gd name="adj" fmla="val 5801"/>
            </a:avLst>
          </a:prstGeom>
          <a:solidFill>
            <a:schemeClr val="bg2"/>
          </a:solidFill>
          <a:ln/>
        </p:spPr>
      </p:sp>
      <p:sp>
        <p:nvSpPr>
          <p:cNvPr id="13" name="icono-fondo-13"/>
          <p:cNvSpPr/>
          <p:nvPr/>
        </p:nvSpPr>
        <p:spPr>
          <a:xfrm>
            <a:off x="6553048" y="2240280"/>
            <a:ext cx="685800" cy="685800"/>
          </a:xfrm>
          <a:prstGeom prst="roundRect">
            <a:avLst>
              <a:gd name="adj" fmla="val 26000"/>
            </a:avLst>
          </a:prstGeom>
          <a:solidFill>
            <a:schemeClr val="tx1"/>
          </a:solidFill>
          <a:ln/>
        </p:spPr>
      </p:sp>
      <p:pic>
        <p:nvPicPr>
          <p:cNvPr id="14" name="icono-LuCrosshair-14" descr="preencoded.png">    </p:cNvPr>
          <p:cNvPicPr>
            <a:picLocks noChangeAspect="1"/>
          </p:cNvPicPr>
          <p:nvPr/>
        </p:nvPicPr>
        <p:blipFill>
          <a:blip r:embed="rId3"/>
          <a:stretch>
            <a:fillRect/>
          </a:stretch>
        </p:blipFill>
        <p:spPr>
          <a:xfrm>
            <a:off x="6717640" y="2404872"/>
            <a:ext cx="356616" cy="356616"/>
          </a:xfrm>
          <a:prstGeom prst="rect">
            <a:avLst/>
          </a:prstGeom>
        </p:spPr>
      </p:pic>
      <p:sp>
        <p:nvSpPr>
          <p:cNvPr id="15" name="texto-15"/>
          <p:cNvSpPr txBox="1"/>
          <p:nvPr/>
        </p:nvSpPr>
        <p:spPr>
          <a:xfrm>
            <a:off x="6553048" y="3200400"/>
            <a:ext cx="1882064" cy="15544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Láser que no se ve</a:t>
            </a:r>
            <a:endParaRPr lang="en-US" sz="1800" dirty="0"/>
          </a:p>
          <a:p>
            <a:pPr indent="0" marL="0">
              <a:buNone/>
            </a:pPr>
            <a:r>
              <a:rPr lang="en-US" sz="1400" dirty="0">
                <a:solidFill>
                  <a:schemeClr val="accent6"/>
                </a:solidFill>
              </a:rPr>
              <a:t>Un láser físico apenas se nota en pantallas LED y televisores.</a:t>
            </a:r>
            <a:endParaRPr lang="en-US" sz="1800" dirty="0"/>
          </a:p>
        </p:txBody>
      </p:sp>
      <p:sp>
        <p:nvSpPr>
          <p:cNvPr id="16" name="tarjeta-16"/>
          <p:cNvSpPr/>
          <p:nvPr/>
        </p:nvSpPr>
        <p:spPr>
          <a:xfrm>
            <a:off x="9029471" y="1920240"/>
            <a:ext cx="2522144" cy="3017520"/>
          </a:xfrm>
          <a:prstGeom prst="roundRect">
            <a:avLst>
              <a:gd name="adj" fmla="val 5801"/>
            </a:avLst>
          </a:prstGeom>
          <a:solidFill>
            <a:schemeClr val="bg2"/>
          </a:solidFill>
          <a:ln/>
        </p:spPr>
      </p:sp>
      <p:sp>
        <p:nvSpPr>
          <p:cNvPr id="17" name="icono-fondo-17"/>
          <p:cNvSpPr/>
          <p:nvPr/>
        </p:nvSpPr>
        <p:spPr>
          <a:xfrm>
            <a:off x="9349511" y="2240280"/>
            <a:ext cx="685800" cy="685800"/>
          </a:xfrm>
          <a:prstGeom prst="roundRect">
            <a:avLst>
              <a:gd name="adj" fmla="val 26000"/>
            </a:avLst>
          </a:prstGeom>
          <a:solidFill>
            <a:schemeClr val="tx1"/>
          </a:solidFill>
          <a:ln/>
        </p:spPr>
      </p:sp>
      <p:pic>
        <p:nvPicPr>
          <p:cNvPr id="18" name="icono-LuMousePointerClick-18" descr="preencoded.png">    </p:cNvPr>
          <p:cNvPicPr>
            <a:picLocks noChangeAspect="1"/>
          </p:cNvPicPr>
          <p:nvPr/>
        </p:nvPicPr>
        <p:blipFill>
          <a:blip r:embed="rId4"/>
          <a:stretch>
            <a:fillRect/>
          </a:stretch>
        </p:blipFill>
        <p:spPr>
          <a:xfrm>
            <a:off x="9514103" y="2404872"/>
            <a:ext cx="356616" cy="356616"/>
          </a:xfrm>
          <a:prstGeom prst="rect">
            <a:avLst/>
          </a:prstGeom>
        </p:spPr>
      </p:pic>
      <p:sp>
        <p:nvSpPr>
          <p:cNvPr id="19" name="texto-19"/>
          <p:cNvSpPr txBox="1"/>
          <p:nvPr/>
        </p:nvSpPr>
        <p:spPr>
          <a:xfrm>
            <a:off x="9349511" y="3200400"/>
            <a:ext cx="1882064" cy="155448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Interrupciones</a:t>
            </a:r>
            <a:endParaRPr lang="en-US" sz="1800" dirty="0"/>
          </a:p>
          <a:p>
            <a:pPr indent="0" marL="0">
              <a:buNone/>
            </a:pPr>
            <a:r>
              <a:rPr lang="en-US" sz="1400" dirty="0">
                <a:solidFill>
                  <a:schemeClr val="accent6"/>
                </a:solidFill>
              </a:rPr>
              <a:t>Hacer clic o escribir algo corta el ritmo de la charla.</a:t>
            </a:r>
            <a:endParaRPr lang="en-US" sz="1800" dirty="0"/>
          </a:p>
        </p:txBody>
      </p:sp>
      <p:sp>
        <p:nvSpPr>
          <p:cNvPr id="20" name="tarjeta-20"/>
          <p:cNvSpPr/>
          <p:nvPr/>
        </p:nvSpPr>
        <p:spPr>
          <a:xfrm>
            <a:off x="640080" y="5257800"/>
            <a:ext cx="10911535" cy="777240"/>
          </a:xfrm>
          <a:prstGeom prst="roundRect">
            <a:avLst>
              <a:gd name="adj" fmla="val 18824"/>
            </a:avLst>
          </a:prstGeom>
          <a:solidFill>
            <a:schemeClr val="tx1"/>
          </a:solidFill>
          <a:ln/>
        </p:spPr>
      </p:sp>
      <p:sp>
        <p:nvSpPr>
          <p:cNvPr id="21" name="punto-laser"/>
          <p:cNvSpPr/>
          <p:nvPr/>
        </p:nvSpPr>
        <p:spPr>
          <a:xfrm>
            <a:off x="1005840" y="5564124"/>
            <a:ext cx="164592" cy="164592"/>
          </a:xfrm>
          <a:prstGeom prst="ellipse">
            <a:avLst/>
          </a:prstGeom>
          <a:solidFill>
            <a:schemeClr val="accent1"/>
          </a:solidFill>
          <a:ln/>
        </p:spPr>
      </p:sp>
      <p:sp>
        <p:nvSpPr>
          <p:cNvPr id="22" name="puente"/>
          <p:cNvSpPr txBox="1"/>
          <p:nvPr/>
        </p:nvSpPr>
        <p:spPr>
          <a:xfrm>
            <a:off x="1371600" y="5257800"/>
            <a:ext cx="9905695" cy="777240"/>
          </a:xfrm>
          <a:prstGeom prst="rect">
            <a:avLst/>
          </a:prstGeom>
          <a:noFill/>
          <a:ln/>
        </p:spPr>
        <p:txBody>
          <a:bodyPr wrap="square" lIns="0" tIns="0" rIns="0" bIns="0" rtlCol="0" anchor="ctr"/>
          <a:lstStyle/>
          <a:p>
            <a:pPr indent="0" marL="0">
              <a:buNone/>
            </a:pPr>
            <a:r>
              <a:rPr lang="en-US" sz="1700" b="1" dirty="0">
                <a:solidFill>
                  <a:schemeClr val="bg1"/>
                </a:solidFill>
              </a:rPr>
              <a:t>Con Presentazo, todo eso se resuelve desde el celular que ya llevas en el bolsillo.</a:t>
            </a:r>
            <a:endParaRPr lang="en-US" sz="17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LA SOLUCIÓN</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Tu celular, convertido en control remoto</a:t>
            </a:r>
            <a:endParaRPr lang="en-US" sz="3600" dirty="0"/>
          </a:p>
        </p:txBody>
      </p:sp>
      <p:sp>
        <p:nvSpPr>
          <p:cNvPr id="4" name="resumen"/>
          <p:cNvSpPr txBox="1"/>
          <p:nvPr/>
        </p:nvSpPr>
        <p:spPr>
          <a:xfrm>
            <a:off x="640080" y="1783080"/>
            <a:ext cx="5760720" cy="868680"/>
          </a:xfrm>
          <a:prstGeom prst="rect">
            <a:avLst/>
          </a:prstGeom>
          <a:noFill/>
          <a:ln/>
        </p:spPr>
        <p:txBody>
          <a:bodyPr wrap="square" lIns="0" tIns="0" rIns="0" bIns="0" rtlCol="0" anchor="t"/>
          <a:lstStyle/>
          <a:p>
            <a:pPr indent="0" marL="0">
              <a:buNone/>
            </a:pPr>
            <a:r>
              <a:rPr lang="en-US" sz="1800" dirty="0">
                <a:solidFill>
                  <a:schemeClr val="tx1"/>
                </a:solidFill>
              </a:rPr>
              <a:t>Una extensión de Chrome y una página web: escaneas un código QR y tu celular controla la presentación.</a:t>
            </a:r>
            <a:endParaRPr lang="en-US" sz="1800" dirty="0"/>
          </a:p>
        </p:txBody>
      </p:sp>
      <p:sp>
        <p:nvSpPr>
          <p:cNvPr id="5" name="icono-fondo-21"/>
          <p:cNvSpPr/>
          <p:nvPr/>
        </p:nvSpPr>
        <p:spPr>
          <a:xfrm>
            <a:off x="640080" y="2880360"/>
            <a:ext cx="621792" cy="621792"/>
          </a:xfrm>
          <a:prstGeom prst="roundRect">
            <a:avLst>
              <a:gd name="adj" fmla="val 26000"/>
            </a:avLst>
          </a:prstGeom>
          <a:solidFill>
            <a:schemeClr val="accent1"/>
          </a:solidFill>
          <a:ln/>
        </p:spPr>
      </p:sp>
      <p:pic>
        <p:nvPicPr>
          <p:cNvPr id="6" name="icono-LuQrCode-22" descr="preencoded.png">    </p:cNvPr>
          <p:cNvPicPr>
            <a:picLocks noChangeAspect="1"/>
          </p:cNvPicPr>
          <p:nvPr/>
        </p:nvPicPr>
        <p:blipFill>
          <a:blip r:embed="rId1"/>
          <a:stretch>
            <a:fillRect/>
          </a:stretch>
        </p:blipFill>
        <p:spPr>
          <a:xfrm>
            <a:off x="789310" y="3029590"/>
            <a:ext cx="323332" cy="323332"/>
          </a:xfrm>
          <a:prstGeom prst="rect">
            <a:avLst/>
          </a:prstGeom>
        </p:spPr>
      </p:pic>
      <p:sp>
        <p:nvSpPr>
          <p:cNvPr id="7" name="texto-23"/>
          <p:cNvSpPr txBox="1"/>
          <p:nvPr/>
        </p:nvSpPr>
        <p:spPr>
          <a:xfrm>
            <a:off x="1508760" y="2862072"/>
            <a:ext cx="4937760"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Sin instalar nada</a:t>
            </a:r>
            <a:endParaRPr lang="en-US" sz="1700" dirty="0"/>
          </a:p>
          <a:p>
            <a:pPr indent="0" marL="0">
              <a:buNone/>
            </a:pPr>
            <a:r>
              <a:rPr lang="en-US" sz="1400" dirty="0">
                <a:solidFill>
                  <a:schemeClr val="accent6"/>
                </a:solidFill>
              </a:rPr>
              <a:t>El QR abre el control en el navegador del celular.</a:t>
            </a:r>
            <a:endParaRPr lang="en-US" sz="1700" dirty="0"/>
          </a:p>
        </p:txBody>
      </p:sp>
      <p:sp>
        <p:nvSpPr>
          <p:cNvPr id="8" name="icono-fondo-24"/>
          <p:cNvSpPr/>
          <p:nvPr/>
        </p:nvSpPr>
        <p:spPr>
          <a:xfrm>
            <a:off x="640080" y="3931920"/>
            <a:ext cx="621792" cy="621792"/>
          </a:xfrm>
          <a:prstGeom prst="roundRect">
            <a:avLst>
              <a:gd name="adj" fmla="val 26000"/>
            </a:avLst>
          </a:prstGeom>
          <a:solidFill>
            <a:schemeClr val="accent1"/>
          </a:solidFill>
          <a:ln/>
        </p:spPr>
      </p:sp>
      <p:pic>
        <p:nvPicPr>
          <p:cNvPr id="9" name="icono-LuLayers-25" descr="preencoded.png">    </p:cNvPr>
          <p:cNvPicPr>
            <a:picLocks noChangeAspect="1"/>
          </p:cNvPicPr>
          <p:nvPr/>
        </p:nvPicPr>
        <p:blipFill>
          <a:blip r:embed="rId2"/>
          <a:stretch>
            <a:fillRect/>
          </a:stretch>
        </p:blipFill>
        <p:spPr>
          <a:xfrm>
            <a:off x="789310" y="4081150"/>
            <a:ext cx="323332" cy="323332"/>
          </a:xfrm>
          <a:prstGeom prst="rect">
            <a:avLst/>
          </a:prstGeom>
        </p:spPr>
      </p:pic>
      <p:sp>
        <p:nvSpPr>
          <p:cNvPr id="10" name="texto-26"/>
          <p:cNvSpPr txBox="1"/>
          <p:nvPr/>
        </p:nvSpPr>
        <p:spPr>
          <a:xfrm>
            <a:off x="1508760" y="3913632"/>
            <a:ext cx="4937760"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Todo en uno</a:t>
            </a:r>
            <a:endParaRPr lang="en-US" sz="1700" dirty="0"/>
          </a:p>
          <a:p>
            <a:pPr indent="0" marL="0">
              <a:buNone/>
            </a:pPr>
            <a:r>
              <a:rPr lang="en-US" sz="1400" dirty="0">
                <a:solidFill>
                  <a:schemeClr val="accent6"/>
                </a:solidFill>
              </a:rPr>
              <a:t>Diapositivas, láser, lápiz, mouse y teclado.</a:t>
            </a:r>
            <a:endParaRPr lang="en-US" sz="1700" dirty="0"/>
          </a:p>
        </p:txBody>
      </p:sp>
      <p:sp>
        <p:nvSpPr>
          <p:cNvPr id="11" name="icono-fondo-27"/>
          <p:cNvSpPr/>
          <p:nvPr/>
        </p:nvSpPr>
        <p:spPr>
          <a:xfrm>
            <a:off x="640080" y="4983480"/>
            <a:ext cx="621792" cy="621792"/>
          </a:xfrm>
          <a:prstGeom prst="roundRect">
            <a:avLst>
              <a:gd name="adj" fmla="val 26000"/>
            </a:avLst>
          </a:prstGeom>
          <a:solidFill>
            <a:schemeClr val="accent1"/>
          </a:solidFill>
          <a:ln/>
        </p:spPr>
      </p:sp>
      <p:pic>
        <p:nvPicPr>
          <p:cNvPr id="12" name="icono-LuShieldCheck-28" descr="preencoded.png">    </p:cNvPr>
          <p:cNvPicPr>
            <a:picLocks noChangeAspect="1"/>
          </p:cNvPicPr>
          <p:nvPr/>
        </p:nvPicPr>
        <p:blipFill>
          <a:blip r:embed="rId3"/>
          <a:stretch>
            <a:fillRect/>
          </a:stretch>
        </p:blipFill>
        <p:spPr>
          <a:xfrm>
            <a:off x="789310" y="5132710"/>
            <a:ext cx="323332" cy="323332"/>
          </a:xfrm>
          <a:prstGeom prst="rect">
            <a:avLst/>
          </a:prstGeom>
        </p:spPr>
      </p:pic>
      <p:sp>
        <p:nvSpPr>
          <p:cNvPr id="13" name="texto-29"/>
          <p:cNvSpPr txBox="1"/>
          <p:nvPr/>
        </p:nvSpPr>
        <p:spPr>
          <a:xfrm>
            <a:off x="1508760" y="4965192"/>
            <a:ext cx="4937760"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Directo y cifrado</a:t>
            </a:r>
            <a:endParaRPr lang="en-US" sz="1700" dirty="0"/>
          </a:p>
          <a:p>
            <a:pPr indent="0" marL="0">
              <a:buNone/>
            </a:pPr>
            <a:r>
              <a:rPr lang="en-US" sz="1400" dirty="0">
                <a:solidFill>
                  <a:schemeClr val="accent6"/>
                </a:solidFill>
              </a:rPr>
              <a:t>Sin cuentas: los comandos van del celular a la computadora.</a:t>
            </a:r>
            <a:endParaRPr lang="en-US" sz="1700" dirty="0"/>
          </a:p>
        </p:txBody>
      </p:sp>
      <p:sp>
        <p:nvSpPr>
          <p:cNvPr id="14" name="marco-30"/>
          <p:cNvSpPr/>
          <p:nvPr/>
        </p:nvSpPr>
        <p:spPr>
          <a:xfrm>
            <a:off x="6720840" y="1737360"/>
            <a:ext cx="2087445" cy="4297680"/>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15" name="captura-31" descr="Panel de la extensión con el código QR">    </p:cNvPr>
          <p:cNvPicPr>
            <a:picLocks noChangeAspect="1"/>
          </p:cNvPicPr>
          <p:nvPr/>
        </p:nvPicPr>
        <p:blipFill>
          <a:blip r:embed="rId4"/>
          <a:stretch>
            <a:fillRect/>
          </a:stretch>
        </p:blipFill>
        <p:spPr>
          <a:xfrm>
            <a:off x="6720840" y="1737360"/>
            <a:ext cx="2087445" cy="4297680"/>
          </a:xfrm>
          <a:prstGeom prst="rect">
            <a:avLst/>
          </a:prstGeom>
        </p:spPr>
      </p:pic>
      <p:pic>
        <p:nvPicPr>
          <p:cNvPr id="16" name="flecha" descr="preencoded.png">    </p:cNvPr>
          <p:cNvPicPr>
            <a:picLocks noChangeAspect="1"/>
          </p:cNvPicPr>
          <p:nvPr/>
        </p:nvPicPr>
        <p:blipFill>
          <a:blip r:embed="rId5"/>
          <a:stretch>
            <a:fillRect/>
          </a:stretch>
        </p:blipFill>
        <p:spPr>
          <a:xfrm>
            <a:off x="8942832" y="3657600"/>
            <a:ext cx="329184" cy="329184"/>
          </a:xfrm>
          <a:prstGeom prst="rect">
            <a:avLst/>
          </a:prstGeom>
        </p:spPr>
      </p:pic>
      <p:pic>
        <p:nvPicPr>
          <p:cNvPr id="17" name="celular-32" descr="Control en el celular">    </p:cNvPr>
          <p:cNvPicPr>
            <a:picLocks noChangeAspect="1"/>
          </p:cNvPicPr>
          <p:nvPr/>
        </p:nvPicPr>
        <p:blipFill>
          <a:blip r:embed="rId6"/>
          <a:stretch>
            <a:fillRect/>
          </a:stretch>
        </p:blipFill>
        <p:spPr>
          <a:xfrm>
            <a:off x="9372600" y="1600200"/>
            <a:ext cx="2175132" cy="4572000"/>
          </a:xfrm>
          <a:prstGeom prst="rect">
            <a:avLst/>
          </a:prstGeom>
        </p:spPr>
      </p:pic>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CÓMO SE USA</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Tres pasos y estás presentando</a:t>
            </a:r>
            <a:endParaRPr lang="en-US" sz="3600" dirty="0"/>
          </a:p>
        </p:txBody>
      </p:sp>
      <p:sp>
        <p:nvSpPr>
          <p:cNvPr id="4" name="tarjeta-33"/>
          <p:cNvSpPr/>
          <p:nvPr/>
        </p:nvSpPr>
        <p:spPr>
          <a:xfrm>
            <a:off x="640080" y="1783080"/>
            <a:ext cx="3291840" cy="2514600"/>
          </a:xfrm>
          <a:prstGeom prst="roundRect">
            <a:avLst>
              <a:gd name="adj" fmla="val 5818"/>
            </a:avLst>
          </a:prstGeom>
          <a:solidFill>
            <a:schemeClr val="bg2"/>
          </a:solidFill>
          <a:ln/>
        </p:spPr>
      </p:sp>
      <p:sp>
        <p:nvSpPr>
          <p:cNvPr id="5" name="marco-34"/>
          <p:cNvSpPr/>
          <p:nvPr/>
        </p:nvSpPr>
        <p:spPr>
          <a:xfrm>
            <a:off x="822960" y="2217420"/>
            <a:ext cx="2926080" cy="1645920"/>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6" name="captura-35" descr="Presentación abierta en Chrome">    </p:cNvPr>
          <p:cNvPicPr>
            <a:picLocks noChangeAspect="1"/>
          </p:cNvPicPr>
          <p:nvPr/>
        </p:nvPicPr>
        <p:blipFill>
          <a:blip r:embed="rId1"/>
          <a:stretch>
            <a:fillRect/>
          </a:stretch>
        </p:blipFill>
        <p:spPr>
          <a:xfrm>
            <a:off x="822960" y="2217420"/>
            <a:ext cx="2926080" cy="1645920"/>
          </a:xfrm>
          <a:prstGeom prst="rect">
            <a:avLst/>
          </a:prstGeom>
        </p:spPr>
      </p:pic>
      <p:sp>
        <p:nvSpPr>
          <p:cNvPr id="7" name="numero-36"/>
          <p:cNvSpPr/>
          <p:nvPr/>
        </p:nvSpPr>
        <p:spPr>
          <a:xfrm>
            <a:off x="640080" y="4590288"/>
            <a:ext cx="502920" cy="502920"/>
          </a:xfrm>
          <a:prstGeom prst="ellipse">
            <a:avLst/>
          </a:prstGeom>
          <a:solidFill>
            <a:schemeClr val="tx1"/>
          </a:solidFill>
          <a:ln/>
        </p:spPr>
      </p:sp>
      <p:sp>
        <p:nvSpPr>
          <p:cNvPr id="8" name="numero-texto-37"/>
          <p:cNvSpPr txBox="1"/>
          <p:nvPr/>
        </p:nvSpPr>
        <p:spPr>
          <a:xfrm>
            <a:off x="640080" y="45902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9" name="texto-38"/>
          <p:cNvSpPr txBox="1"/>
          <p:nvPr/>
        </p:nvSpPr>
        <p:spPr>
          <a:xfrm>
            <a:off x="1325880" y="4572000"/>
            <a:ext cx="2606040" cy="15087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Abre tu presentación</a:t>
            </a:r>
            <a:endParaRPr lang="en-US" sz="1800" dirty="0"/>
          </a:p>
          <a:p>
            <a:pPr indent="0" marL="0">
              <a:buNone/>
            </a:pPr>
            <a:r>
              <a:rPr lang="en-US" sz="1400" dirty="0">
                <a:solidFill>
                  <a:schemeClr val="accent6"/>
                </a:solidFill>
              </a:rPr>
              <a:t>En Google Slides, PowerPoint web, Canva o cualquier página en Chrome.</a:t>
            </a:r>
            <a:endParaRPr lang="en-US" sz="1800" dirty="0"/>
          </a:p>
        </p:txBody>
      </p:sp>
      <p:pic>
        <p:nvPicPr>
          <p:cNvPr id="10" name="flecha-39" descr="preencoded.png">    </p:cNvPr>
          <p:cNvPicPr>
            <a:picLocks noChangeAspect="1"/>
          </p:cNvPicPr>
          <p:nvPr/>
        </p:nvPicPr>
        <p:blipFill>
          <a:blip r:embed="rId2"/>
          <a:stretch>
            <a:fillRect/>
          </a:stretch>
        </p:blipFill>
        <p:spPr>
          <a:xfrm>
            <a:off x="4008044" y="2852928"/>
            <a:ext cx="365760" cy="365760"/>
          </a:xfrm>
          <a:prstGeom prst="rect">
            <a:avLst/>
          </a:prstGeom>
        </p:spPr>
      </p:pic>
      <p:sp>
        <p:nvSpPr>
          <p:cNvPr id="11" name="tarjeta-40"/>
          <p:cNvSpPr/>
          <p:nvPr/>
        </p:nvSpPr>
        <p:spPr>
          <a:xfrm>
            <a:off x="4449928" y="1783080"/>
            <a:ext cx="3291840" cy="2514600"/>
          </a:xfrm>
          <a:prstGeom prst="roundRect">
            <a:avLst>
              <a:gd name="adj" fmla="val 5818"/>
            </a:avLst>
          </a:prstGeom>
          <a:solidFill>
            <a:schemeClr val="bg2"/>
          </a:solidFill>
          <a:ln/>
        </p:spPr>
      </p:sp>
      <p:sp>
        <p:nvSpPr>
          <p:cNvPr id="12" name="marco-41"/>
          <p:cNvSpPr/>
          <p:nvPr/>
        </p:nvSpPr>
        <p:spPr>
          <a:xfrm>
            <a:off x="5551780" y="1920240"/>
            <a:ext cx="1088136" cy="2240280"/>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13" name="captura-42" descr="Código QR de Presentazo">    </p:cNvPr>
          <p:cNvPicPr>
            <a:picLocks noChangeAspect="1"/>
          </p:cNvPicPr>
          <p:nvPr/>
        </p:nvPicPr>
        <p:blipFill>
          <a:blip r:embed="rId3"/>
          <a:stretch>
            <a:fillRect/>
          </a:stretch>
        </p:blipFill>
        <p:spPr>
          <a:xfrm>
            <a:off x="5551780" y="1920240"/>
            <a:ext cx="1088136" cy="2240280"/>
          </a:xfrm>
          <a:prstGeom prst="rect">
            <a:avLst/>
          </a:prstGeom>
        </p:spPr>
      </p:pic>
      <p:sp>
        <p:nvSpPr>
          <p:cNvPr id="14" name="numero-43"/>
          <p:cNvSpPr/>
          <p:nvPr/>
        </p:nvSpPr>
        <p:spPr>
          <a:xfrm>
            <a:off x="4449928" y="4590288"/>
            <a:ext cx="502920" cy="502920"/>
          </a:xfrm>
          <a:prstGeom prst="ellipse">
            <a:avLst/>
          </a:prstGeom>
          <a:solidFill>
            <a:schemeClr val="tx1"/>
          </a:solidFill>
          <a:ln/>
        </p:spPr>
      </p:sp>
      <p:sp>
        <p:nvSpPr>
          <p:cNvPr id="15" name="numero-texto-44"/>
          <p:cNvSpPr txBox="1"/>
          <p:nvPr/>
        </p:nvSpPr>
        <p:spPr>
          <a:xfrm>
            <a:off x="4449928" y="45902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6" name="texto-45"/>
          <p:cNvSpPr txBox="1"/>
          <p:nvPr/>
        </p:nvSpPr>
        <p:spPr>
          <a:xfrm>
            <a:off x="5135728" y="4572000"/>
            <a:ext cx="2606040" cy="15087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Escanea el código</a:t>
            </a:r>
            <a:endParaRPr lang="en-US" sz="1800" dirty="0"/>
          </a:p>
          <a:p>
            <a:pPr indent="0" marL="0">
              <a:buNone/>
            </a:pPr>
            <a:r>
              <a:rPr lang="en-US" sz="1400" dirty="0">
                <a:solidFill>
                  <a:schemeClr val="accent6"/>
                </a:solidFill>
              </a:rPr>
              <a:t>Haz clic en el ícono de Presentazo (Alt+Shift+M) y apunta la cámara al QR.</a:t>
            </a:r>
            <a:endParaRPr lang="en-US" sz="1800" dirty="0"/>
          </a:p>
        </p:txBody>
      </p:sp>
      <p:pic>
        <p:nvPicPr>
          <p:cNvPr id="17" name="flecha-46" descr="preencoded.png">    </p:cNvPr>
          <p:cNvPicPr>
            <a:picLocks noChangeAspect="1"/>
          </p:cNvPicPr>
          <p:nvPr/>
        </p:nvPicPr>
        <p:blipFill>
          <a:blip r:embed="rId4"/>
          <a:stretch>
            <a:fillRect/>
          </a:stretch>
        </p:blipFill>
        <p:spPr>
          <a:xfrm>
            <a:off x="7817891" y="2852928"/>
            <a:ext cx="365760" cy="365760"/>
          </a:xfrm>
          <a:prstGeom prst="rect">
            <a:avLst/>
          </a:prstGeom>
        </p:spPr>
      </p:pic>
      <p:sp>
        <p:nvSpPr>
          <p:cNvPr id="18" name="tarjeta-47"/>
          <p:cNvSpPr/>
          <p:nvPr/>
        </p:nvSpPr>
        <p:spPr>
          <a:xfrm>
            <a:off x="8259775" y="1783080"/>
            <a:ext cx="3291840" cy="2514600"/>
          </a:xfrm>
          <a:prstGeom prst="roundRect">
            <a:avLst>
              <a:gd name="adj" fmla="val 5818"/>
            </a:avLst>
          </a:prstGeom>
          <a:solidFill>
            <a:schemeClr val="bg2"/>
          </a:solidFill>
          <a:ln/>
        </p:spPr>
      </p:sp>
      <p:pic>
        <p:nvPicPr>
          <p:cNvPr id="19" name="celular-48" descr="Control en el celular">    </p:cNvPr>
          <p:cNvPicPr>
            <a:picLocks noChangeAspect="1"/>
          </p:cNvPicPr>
          <p:nvPr/>
        </p:nvPicPr>
        <p:blipFill>
          <a:blip r:embed="rId5"/>
          <a:stretch>
            <a:fillRect/>
          </a:stretch>
        </p:blipFill>
        <p:spPr>
          <a:xfrm>
            <a:off x="9372788" y="1920240"/>
            <a:ext cx="1065815" cy="2240280"/>
          </a:xfrm>
          <a:prstGeom prst="rect">
            <a:avLst/>
          </a:prstGeom>
        </p:spPr>
      </p:pic>
      <p:sp>
        <p:nvSpPr>
          <p:cNvPr id="20" name="numero-49"/>
          <p:cNvSpPr/>
          <p:nvPr/>
        </p:nvSpPr>
        <p:spPr>
          <a:xfrm>
            <a:off x="8259775" y="4590288"/>
            <a:ext cx="502920" cy="502920"/>
          </a:xfrm>
          <a:prstGeom prst="ellipse">
            <a:avLst/>
          </a:prstGeom>
          <a:solidFill>
            <a:schemeClr val="tx1"/>
          </a:solidFill>
          <a:ln/>
        </p:spPr>
      </p:sp>
      <p:sp>
        <p:nvSpPr>
          <p:cNvPr id="21" name="numero-texto-50"/>
          <p:cNvSpPr txBox="1"/>
          <p:nvPr/>
        </p:nvSpPr>
        <p:spPr>
          <a:xfrm>
            <a:off x="8259775" y="4590288"/>
            <a:ext cx="502920" cy="50292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22" name="texto-51"/>
          <p:cNvSpPr txBox="1"/>
          <p:nvPr/>
        </p:nvSpPr>
        <p:spPr>
          <a:xfrm>
            <a:off x="8945575" y="4572000"/>
            <a:ext cx="2606040" cy="1508760"/>
          </a:xfrm>
          <a:prstGeom prst="rect">
            <a:avLst/>
          </a:prstGeom>
          <a:noFill/>
          <a:ln/>
        </p:spPr>
        <p:txBody>
          <a:bodyPr wrap="square" lIns="0" tIns="0" rIns="0" bIns="0" rtlCol="0" anchor="t"/>
          <a:lstStyle/>
          <a:p>
            <a:pPr indent="0" marL="0">
              <a:spcAft>
                <a:spcPts val="300"/>
              </a:spcAft>
              <a:buNone/>
            </a:pPr>
            <a:r>
              <a:rPr lang="en-US" sz="1800" b="1" dirty="0">
                <a:solidFill>
                  <a:schemeClr val="tx1"/>
                </a:solidFill>
              </a:rPr>
              <a:t>Presenta</a:t>
            </a:r>
            <a:endParaRPr lang="en-US" sz="1800" dirty="0"/>
          </a:p>
          <a:p>
            <a:pPr indent="0" marL="0">
              <a:buNone/>
            </a:pPr>
            <a:r>
              <a:rPr lang="en-US" sz="1400" dirty="0">
                <a:solidFill>
                  <a:schemeClr val="accent6"/>
                </a:solidFill>
              </a:rPr>
              <a:t>El control se abre en el navegador del celular. Avanza, señala o escribe.</a:t>
            </a:r>
            <a:endParaRPr lang="en-US" sz="18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FUNCIONES · DIAPOSITIVAS</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Avanza con un toque, desde cualquier lugar</a:t>
            </a:r>
            <a:endParaRPr lang="en-US" sz="3600" dirty="0"/>
          </a:p>
        </p:txBody>
      </p:sp>
      <p:pic>
        <p:nvPicPr>
          <p:cNvPr id="4" name="celular-52" descr="Pantalla de diapositivas del control">    </p:cNvPr>
          <p:cNvPicPr>
            <a:picLocks noChangeAspect="1"/>
          </p:cNvPicPr>
          <p:nvPr/>
        </p:nvPicPr>
        <p:blipFill>
          <a:blip r:embed="rId1"/>
          <a:stretch>
            <a:fillRect/>
          </a:stretch>
        </p:blipFill>
        <p:spPr>
          <a:xfrm>
            <a:off x="914400" y="1645920"/>
            <a:ext cx="2153380" cy="4526280"/>
          </a:xfrm>
          <a:prstGeom prst="rect">
            <a:avLst/>
          </a:prstGeom>
        </p:spPr>
      </p:pic>
      <p:sp>
        <p:nvSpPr>
          <p:cNvPr id="5" name="icono-fondo-53"/>
          <p:cNvSpPr/>
          <p:nvPr/>
        </p:nvSpPr>
        <p:spPr>
          <a:xfrm>
            <a:off x="3931920" y="1783080"/>
            <a:ext cx="548640" cy="548640"/>
          </a:xfrm>
          <a:prstGeom prst="roundRect">
            <a:avLst>
              <a:gd name="adj" fmla="val 26000"/>
            </a:avLst>
          </a:prstGeom>
          <a:solidFill>
            <a:schemeClr val="tx1"/>
          </a:solidFill>
          <a:ln/>
        </p:spPr>
      </p:sp>
      <p:pic>
        <p:nvPicPr>
          <p:cNvPr id="6" name="icono-LuChevronRight-54" descr="preencoded.png">    </p:cNvPr>
          <p:cNvPicPr>
            <a:picLocks noChangeAspect="1"/>
          </p:cNvPicPr>
          <p:nvPr/>
        </p:nvPicPr>
        <p:blipFill>
          <a:blip r:embed="rId2"/>
          <a:stretch>
            <a:fillRect/>
          </a:stretch>
        </p:blipFill>
        <p:spPr>
          <a:xfrm>
            <a:off x="4063594" y="1914754"/>
            <a:ext cx="285293" cy="285293"/>
          </a:xfrm>
          <a:prstGeom prst="rect">
            <a:avLst/>
          </a:prstGeom>
        </p:spPr>
      </p:pic>
      <p:sp>
        <p:nvSpPr>
          <p:cNvPr id="7" name="texto-55"/>
          <p:cNvSpPr txBox="1"/>
          <p:nvPr/>
        </p:nvSpPr>
        <p:spPr>
          <a:xfrm>
            <a:off x="4709160" y="1755648"/>
            <a:ext cx="6766560" cy="7772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Siguiente y anterior</a:t>
            </a:r>
            <a:endParaRPr lang="en-US" sz="1700" dirty="0"/>
          </a:p>
          <a:p>
            <a:pPr indent="0" marL="0">
              <a:buNone/>
            </a:pPr>
            <a:r>
              <a:rPr lang="en-US" sz="1400" dirty="0">
                <a:solidFill>
                  <a:schemeClr val="accent6"/>
                </a:solidFill>
              </a:rPr>
              <a:t>Un botón grande para el pulgar; también puedes deslizar el dedo.</a:t>
            </a:r>
            <a:endParaRPr lang="en-US" sz="1700" dirty="0"/>
          </a:p>
        </p:txBody>
      </p:sp>
      <p:sp>
        <p:nvSpPr>
          <p:cNvPr id="8" name="icono-fondo-56"/>
          <p:cNvSpPr/>
          <p:nvPr/>
        </p:nvSpPr>
        <p:spPr>
          <a:xfrm>
            <a:off x="3931920" y="2651760"/>
            <a:ext cx="548640" cy="548640"/>
          </a:xfrm>
          <a:prstGeom prst="roundRect">
            <a:avLst>
              <a:gd name="adj" fmla="val 26000"/>
            </a:avLst>
          </a:prstGeom>
          <a:solidFill>
            <a:schemeClr val="tx1"/>
          </a:solidFill>
          <a:ln/>
        </p:spPr>
      </p:sp>
      <p:pic>
        <p:nvPicPr>
          <p:cNvPr id="9" name="icono-LuPlay-57" descr="preencoded.png">    </p:cNvPr>
          <p:cNvPicPr>
            <a:picLocks noChangeAspect="1"/>
          </p:cNvPicPr>
          <p:nvPr/>
        </p:nvPicPr>
        <p:blipFill>
          <a:blip r:embed="rId3"/>
          <a:stretch>
            <a:fillRect/>
          </a:stretch>
        </p:blipFill>
        <p:spPr>
          <a:xfrm>
            <a:off x="4063594" y="2783434"/>
            <a:ext cx="285293" cy="285293"/>
          </a:xfrm>
          <a:prstGeom prst="rect">
            <a:avLst/>
          </a:prstGeom>
        </p:spPr>
      </p:pic>
      <p:sp>
        <p:nvSpPr>
          <p:cNvPr id="10" name="texto-58"/>
          <p:cNvSpPr txBox="1"/>
          <p:nvPr/>
        </p:nvSpPr>
        <p:spPr>
          <a:xfrm>
            <a:off x="4709160" y="2624328"/>
            <a:ext cx="6766560" cy="7772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Presentar y salir</a:t>
            </a:r>
            <a:endParaRPr lang="en-US" sz="1700" dirty="0"/>
          </a:p>
          <a:p>
            <a:pPr indent="0" marL="0">
              <a:buNone/>
            </a:pPr>
            <a:r>
              <a:rPr lang="en-US" sz="1400" dirty="0">
                <a:solidFill>
                  <a:schemeClr val="accent6"/>
                </a:solidFill>
              </a:rPr>
              <a:t>Inicia el modo presentación de Google Slides y la pantalla completa.</a:t>
            </a:r>
            <a:endParaRPr lang="en-US" sz="1700" dirty="0"/>
          </a:p>
        </p:txBody>
      </p:sp>
      <p:sp>
        <p:nvSpPr>
          <p:cNvPr id="11" name="icono-fondo-59"/>
          <p:cNvSpPr/>
          <p:nvPr/>
        </p:nvSpPr>
        <p:spPr>
          <a:xfrm>
            <a:off x="3931920" y="3520440"/>
            <a:ext cx="548640" cy="548640"/>
          </a:xfrm>
          <a:prstGeom prst="roundRect">
            <a:avLst>
              <a:gd name="adj" fmla="val 26000"/>
            </a:avLst>
          </a:prstGeom>
          <a:solidFill>
            <a:schemeClr val="tx1"/>
          </a:solidFill>
          <a:ln/>
        </p:spPr>
      </p:sp>
      <p:pic>
        <p:nvPicPr>
          <p:cNvPr id="12" name="icono-LuSquare-60" descr="preencoded.png">    </p:cNvPr>
          <p:cNvPicPr>
            <a:picLocks noChangeAspect="1"/>
          </p:cNvPicPr>
          <p:nvPr/>
        </p:nvPicPr>
        <p:blipFill>
          <a:blip r:embed="rId4"/>
          <a:stretch>
            <a:fillRect/>
          </a:stretch>
        </p:blipFill>
        <p:spPr>
          <a:xfrm>
            <a:off x="4063594" y="3652114"/>
            <a:ext cx="285293" cy="285293"/>
          </a:xfrm>
          <a:prstGeom prst="rect">
            <a:avLst/>
          </a:prstGeom>
        </p:spPr>
      </p:pic>
      <p:sp>
        <p:nvSpPr>
          <p:cNvPr id="13" name="texto-61"/>
          <p:cNvSpPr txBox="1"/>
          <p:nvPr/>
        </p:nvSpPr>
        <p:spPr>
          <a:xfrm>
            <a:off x="4709160" y="3493008"/>
            <a:ext cx="6766560" cy="7772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Pantalla negra</a:t>
            </a:r>
            <a:endParaRPr lang="en-US" sz="1700" dirty="0"/>
          </a:p>
          <a:p>
            <a:pPr indent="0" marL="0">
              <a:buNone/>
            </a:pPr>
            <a:r>
              <a:rPr lang="en-US" sz="1400" dirty="0">
                <a:solidFill>
                  <a:schemeClr val="accent6"/>
                </a:solidFill>
              </a:rPr>
              <a:t>Oscurece la pantalla para que el público te mire a ti.</a:t>
            </a:r>
            <a:endParaRPr lang="en-US" sz="1700" dirty="0"/>
          </a:p>
        </p:txBody>
      </p:sp>
      <p:sp>
        <p:nvSpPr>
          <p:cNvPr id="14" name="icono-fondo-62"/>
          <p:cNvSpPr/>
          <p:nvPr/>
        </p:nvSpPr>
        <p:spPr>
          <a:xfrm>
            <a:off x="3931920" y="4389120"/>
            <a:ext cx="548640" cy="548640"/>
          </a:xfrm>
          <a:prstGeom prst="roundRect">
            <a:avLst>
              <a:gd name="adj" fmla="val 26000"/>
            </a:avLst>
          </a:prstGeom>
          <a:solidFill>
            <a:schemeClr val="tx1"/>
          </a:solidFill>
          <a:ln/>
        </p:spPr>
      </p:sp>
      <p:pic>
        <p:nvPicPr>
          <p:cNvPr id="15" name="icono-LuTimer-63" descr="preencoded.png">    </p:cNvPr>
          <p:cNvPicPr>
            <a:picLocks noChangeAspect="1"/>
          </p:cNvPicPr>
          <p:nvPr/>
        </p:nvPicPr>
        <p:blipFill>
          <a:blip r:embed="rId5"/>
          <a:stretch>
            <a:fillRect/>
          </a:stretch>
        </p:blipFill>
        <p:spPr>
          <a:xfrm>
            <a:off x="4063594" y="4520794"/>
            <a:ext cx="285293" cy="285293"/>
          </a:xfrm>
          <a:prstGeom prst="rect">
            <a:avLst/>
          </a:prstGeom>
        </p:spPr>
      </p:pic>
      <p:sp>
        <p:nvSpPr>
          <p:cNvPr id="16" name="texto-64"/>
          <p:cNvSpPr txBox="1"/>
          <p:nvPr/>
        </p:nvSpPr>
        <p:spPr>
          <a:xfrm>
            <a:off x="4709160" y="4361688"/>
            <a:ext cx="6766560" cy="7772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Cronómetro</a:t>
            </a:r>
            <a:endParaRPr lang="en-US" sz="1700" dirty="0"/>
          </a:p>
          <a:p>
            <a:pPr indent="0" marL="0">
              <a:buNone/>
            </a:pPr>
            <a:r>
              <a:rPr lang="en-US" sz="1400" dirty="0">
                <a:solidFill>
                  <a:schemeClr val="accent6"/>
                </a:solidFill>
              </a:rPr>
              <a:t>Controla el tiempo de tu charla sin mirar la computadora.</a:t>
            </a:r>
            <a:endParaRPr lang="en-US" sz="1700" dirty="0"/>
          </a:p>
        </p:txBody>
      </p:sp>
      <p:sp>
        <p:nvSpPr>
          <p:cNvPr id="17" name="icono-fondo-65"/>
          <p:cNvSpPr/>
          <p:nvPr/>
        </p:nvSpPr>
        <p:spPr>
          <a:xfrm>
            <a:off x="3931920" y="5257800"/>
            <a:ext cx="548640" cy="548640"/>
          </a:xfrm>
          <a:prstGeom prst="roundRect">
            <a:avLst>
              <a:gd name="adj" fmla="val 26000"/>
            </a:avLst>
          </a:prstGeom>
          <a:solidFill>
            <a:schemeClr val="tx1"/>
          </a:solidFill>
          <a:ln/>
        </p:spPr>
      </p:sp>
      <p:pic>
        <p:nvPicPr>
          <p:cNvPr id="18" name="icono-LuVibrate-66" descr="preencoded.png">    </p:cNvPr>
          <p:cNvPicPr>
            <a:picLocks noChangeAspect="1"/>
          </p:cNvPicPr>
          <p:nvPr/>
        </p:nvPicPr>
        <p:blipFill>
          <a:blip r:embed="rId6"/>
          <a:stretch>
            <a:fillRect/>
          </a:stretch>
        </p:blipFill>
        <p:spPr>
          <a:xfrm>
            <a:off x="4063594" y="5389474"/>
            <a:ext cx="285293" cy="285293"/>
          </a:xfrm>
          <a:prstGeom prst="rect">
            <a:avLst/>
          </a:prstGeom>
        </p:spPr>
      </p:pic>
      <p:sp>
        <p:nvSpPr>
          <p:cNvPr id="19" name="texto-67"/>
          <p:cNvSpPr txBox="1"/>
          <p:nvPr/>
        </p:nvSpPr>
        <p:spPr>
          <a:xfrm>
            <a:off x="4709160" y="5230368"/>
            <a:ext cx="6766560" cy="7772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Pensado para el celular</a:t>
            </a:r>
            <a:endParaRPr lang="en-US" sz="1700" dirty="0"/>
          </a:p>
          <a:p>
            <a:pPr indent="0" marL="0">
              <a:buNone/>
            </a:pPr>
            <a:r>
              <a:rPr lang="en-US" sz="1400" dirty="0">
                <a:solidFill>
                  <a:schemeClr val="accent6"/>
                </a:solidFill>
              </a:rPr>
              <a:t>Vibra al pulsar y mantiene la pantalla encendida mientras presentas.</a:t>
            </a:r>
            <a:endParaRPr lang="en-US" sz="17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FUNCIONES · PUNTERO</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bg1"/>
                </a:solidFill>
              </a:rPr>
              <a:t>Señala, ilumina y dibuja sobre la diapositiva</a:t>
            </a:r>
            <a:endParaRPr lang="en-US" sz="3600" dirty="0"/>
          </a:p>
        </p:txBody>
      </p:sp>
      <p:sp>
        <p:nvSpPr>
          <p:cNvPr id="4" name="marco-68"/>
          <p:cNvSpPr/>
          <p:nvPr/>
        </p:nvSpPr>
        <p:spPr>
          <a:xfrm>
            <a:off x="640080" y="1828800"/>
            <a:ext cx="3429914" cy="1929327"/>
          </a:xfrm>
          <a:prstGeom prst="rect">
            <a:avLst/>
          </a:prstGeom>
          <a:solidFill>
            <a:schemeClr val="bg1"/>
          </a:solidFill>
          <a:ln w="12700">
            <a:solidFill>
              <a:srgbClr val="3A3A3C"/>
            </a:solidFill>
            <a:prstDash val="solid"/>
          </a:ln>
        </p:spPr>
      </p:sp>
      <p:pic>
        <p:nvPicPr>
          <p:cNvPr id="5" name="captura-69" descr="Láser con estela">    </p:cNvPr>
          <p:cNvPicPr>
            <a:picLocks noChangeAspect="1"/>
          </p:cNvPicPr>
          <p:nvPr/>
        </p:nvPicPr>
        <p:blipFill>
          <a:blip r:embed="rId1"/>
          <a:stretch>
            <a:fillRect/>
          </a:stretch>
        </p:blipFill>
        <p:spPr>
          <a:xfrm>
            <a:off x="640080" y="1828800"/>
            <a:ext cx="3429914" cy="1929327"/>
          </a:xfrm>
          <a:prstGeom prst="rect">
            <a:avLst/>
          </a:prstGeom>
        </p:spPr>
      </p:pic>
      <p:sp>
        <p:nvSpPr>
          <p:cNvPr id="6" name="texto-70"/>
          <p:cNvSpPr txBox="1"/>
          <p:nvPr/>
        </p:nvSpPr>
        <p:spPr>
          <a:xfrm>
            <a:off x="640080" y="3986727"/>
            <a:ext cx="3429914" cy="109728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Láser con estela</a:t>
            </a:r>
            <a:endParaRPr lang="en-US" sz="1800" dirty="0"/>
          </a:p>
          <a:p>
            <a:pPr indent="0" marL="0">
              <a:buNone/>
            </a:pPr>
            <a:r>
              <a:rPr lang="en-US" sz="1400" dirty="0">
                <a:solidFill>
                  <a:schemeClr val="accent5"/>
                </a:solidFill>
              </a:rPr>
              <a:t>Un punto rojo brillante que se ve en cualquier pantalla, incluso en pantalla completa.</a:t>
            </a:r>
            <a:endParaRPr lang="en-US" sz="1800" dirty="0"/>
          </a:p>
        </p:txBody>
      </p:sp>
      <p:sp>
        <p:nvSpPr>
          <p:cNvPr id="7" name="marco-71"/>
          <p:cNvSpPr/>
          <p:nvPr/>
        </p:nvSpPr>
        <p:spPr>
          <a:xfrm>
            <a:off x="4380890" y="1828800"/>
            <a:ext cx="3429914" cy="1929327"/>
          </a:xfrm>
          <a:prstGeom prst="rect">
            <a:avLst/>
          </a:prstGeom>
          <a:solidFill>
            <a:schemeClr val="bg1"/>
          </a:solidFill>
          <a:ln w="12700">
            <a:solidFill>
              <a:srgbClr val="3A3A3C"/>
            </a:solidFill>
            <a:prstDash val="solid"/>
          </a:ln>
        </p:spPr>
      </p:sp>
      <p:pic>
        <p:nvPicPr>
          <p:cNvPr id="8" name="captura-72" descr="Foco de luz">    </p:cNvPr>
          <p:cNvPicPr>
            <a:picLocks noChangeAspect="1"/>
          </p:cNvPicPr>
          <p:nvPr/>
        </p:nvPicPr>
        <p:blipFill>
          <a:blip r:embed="rId2"/>
          <a:stretch>
            <a:fillRect/>
          </a:stretch>
        </p:blipFill>
        <p:spPr>
          <a:xfrm>
            <a:off x="4380890" y="1828800"/>
            <a:ext cx="3429914" cy="1929327"/>
          </a:xfrm>
          <a:prstGeom prst="rect">
            <a:avLst/>
          </a:prstGeom>
        </p:spPr>
      </p:pic>
      <p:sp>
        <p:nvSpPr>
          <p:cNvPr id="9" name="texto-73"/>
          <p:cNvSpPr txBox="1"/>
          <p:nvPr/>
        </p:nvSpPr>
        <p:spPr>
          <a:xfrm>
            <a:off x="4380890" y="3986727"/>
            <a:ext cx="3429914" cy="109728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Foco de luz</a:t>
            </a:r>
            <a:endParaRPr lang="en-US" sz="1800" dirty="0"/>
          </a:p>
          <a:p>
            <a:pPr indent="0" marL="0">
              <a:buNone/>
            </a:pPr>
            <a:r>
              <a:rPr lang="en-US" sz="1400" dirty="0">
                <a:solidFill>
                  <a:schemeClr val="accent5"/>
                </a:solidFill>
              </a:rPr>
              <a:t>Oscurece todo menos el círculo que quieres destacar.</a:t>
            </a:r>
            <a:endParaRPr lang="en-US" sz="1800" dirty="0"/>
          </a:p>
        </p:txBody>
      </p:sp>
      <p:sp>
        <p:nvSpPr>
          <p:cNvPr id="10" name="marco-74"/>
          <p:cNvSpPr/>
          <p:nvPr/>
        </p:nvSpPr>
        <p:spPr>
          <a:xfrm>
            <a:off x="8121701" y="1828800"/>
            <a:ext cx="3429914" cy="1929327"/>
          </a:xfrm>
          <a:prstGeom prst="rect">
            <a:avLst/>
          </a:prstGeom>
          <a:solidFill>
            <a:schemeClr val="bg1"/>
          </a:solidFill>
          <a:ln w="12700">
            <a:solidFill>
              <a:srgbClr val="3A3A3C"/>
            </a:solidFill>
            <a:prstDash val="solid"/>
          </a:ln>
        </p:spPr>
      </p:sp>
      <p:pic>
        <p:nvPicPr>
          <p:cNvPr id="11" name="captura-75" descr="Lápiz de colores">    </p:cNvPr>
          <p:cNvPicPr>
            <a:picLocks noChangeAspect="1"/>
          </p:cNvPicPr>
          <p:nvPr/>
        </p:nvPicPr>
        <p:blipFill>
          <a:blip r:embed="rId3"/>
          <a:stretch>
            <a:fillRect/>
          </a:stretch>
        </p:blipFill>
        <p:spPr>
          <a:xfrm>
            <a:off x="8121701" y="1828800"/>
            <a:ext cx="3429914" cy="1929327"/>
          </a:xfrm>
          <a:prstGeom prst="rect">
            <a:avLst/>
          </a:prstGeom>
        </p:spPr>
      </p:pic>
      <p:sp>
        <p:nvSpPr>
          <p:cNvPr id="12" name="texto-76"/>
          <p:cNvSpPr txBox="1"/>
          <p:nvPr/>
        </p:nvSpPr>
        <p:spPr>
          <a:xfrm>
            <a:off x="8121701" y="3986727"/>
            <a:ext cx="3429914" cy="1097280"/>
          </a:xfrm>
          <a:prstGeom prst="rect">
            <a:avLst/>
          </a:prstGeom>
          <a:noFill/>
          <a:ln/>
        </p:spPr>
        <p:txBody>
          <a:bodyPr wrap="square" lIns="0" tIns="0" rIns="0" bIns="0" rtlCol="0" anchor="t"/>
          <a:lstStyle/>
          <a:p>
            <a:pPr indent="0" marL="0">
              <a:spcAft>
                <a:spcPts val="300"/>
              </a:spcAft>
              <a:buNone/>
            </a:pPr>
            <a:r>
              <a:rPr lang="en-US" sz="1800" b="1" dirty="0">
                <a:solidFill>
                  <a:schemeClr val="bg1"/>
                </a:solidFill>
              </a:rPr>
              <a:t>Lápiz de colores</a:t>
            </a:r>
            <a:endParaRPr lang="en-US" sz="1800" dirty="0"/>
          </a:p>
          <a:p>
            <a:pPr indent="0" marL="0">
              <a:buNone/>
            </a:pPr>
            <a:r>
              <a:rPr lang="en-US" sz="1400" dirty="0">
                <a:solidFill>
                  <a:schemeClr val="accent5"/>
                </a:solidFill>
              </a:rPr>
              <a:t>Encierra, subraya y anota; con deshacer y borrar todo.</a:t>
            </a:r>
            <a:endParaRPr lang="en-US" sz="1800" dirty="0"/>
          </a:p>
        </p:txBody>
      </p:sp>
      <p:sp>
        <p:nvSpPr>
          <p:cNvPr id="13" name="icono-fondo-77"/>
          <p:cNvSpPr/>
          <p:nvPr/>
        </p:nvSpPr>
        <p:spPr>
          <a:xfrm>
            <a:off x="640080" y="5440680"/>
            <a:ext cx="502920" cy="502920"/>
          </a:xfrm>
          <a:prstGeom prst="roundRect">
            <a:avLst>
              <a:gd name="adj" fmla="val 26000"/>
            </a:avLst>
          </a:prstGeom>
          <a:solidFill>
            <a:schemeClr val="accent1"/>
          </a:solidFill>
          <a:ln/>
        </p:spPr>
      </p:sp>
      <p:pic>
        <p:nvPicPr>
          <p:cNvPr id="14" name="icono-LuSmartphone-78" descr="preencoded.png">    </p:cNvPr>
          <p:cNvPicPr>
            <a:picLocks noChangeAspect="1"/>
          </p:cNvPicPr>
          <p:nvPr/>
        </p:nvPicPr>
        <p:blipFill>
          <a:blip r:embed="rId4"/>
          <a:stretch>
            <a:fillRect/>
          </a:stretch>
        </p:blipFill>
        <p:spPr>
          <a:xfrm>
            <a:off x="760781" y="5561381"/>
            <a:ext cx="261518" cy="261518"/>
          </a:xfrm>
          <a:prstGeom prst="rect">
            <a:avLst/>
          </a:prstGeom>
        </p:spPr>
      </p:pic>
      <p:sp>
        <p:nvSpPr>
          <p:cNvPr id="15" name="modo-aire"/>
          <p:cNvSpPr txBox="1"/>
          <p:nvPr/>
        </p:nvSpPr>
        <p:spPr>
          <a:xfrm>
            <a:off x="1371600" y="5440680"/>
            <a:ext cx="9601200" cy="502920"/>
          </a:xfrm>
          <a:prstGeom prst="rect">
            <a:avLst/>
          </a:prstGeom>
          <a:noFill/>
          <a:ln/>
        </p:spPr>
        <p:txBody>
          <a:bodyPr wrap="square" lIns="0" tIns="0" rIns="0" bIns="0" rtlCol="0" anchor="ctr"/>
          <a:lstStyle/>
          <a:p>
            <a:pPr indent="0" marL="0">
              <a:buNone/>
            </a:pPr>
            <a:r>
              <a:rPr lang="en-US" sz="1500" b="1" dirty="0">
                <a:solidFill>
                  <a:schemeClr val="bg1"/>
                </a:solidFill>
              </a:rPr>
              <a:t>Modo aire: </a:t>
            </a:r>
            <a:pPr indent="0" marL="0">
              <a:buNone/>
            </a:pPr>
            <a:r>
              <a:rPr lang="en-US" sz="1500" dirty="0">
                <a:solidFill>
                  <a:schemeClr val="accent5"/>
                </a:solidFill>
              </a:rPr>
              <a:t>apunta moviendo el celular, como un control de verdad (usa el giroscopio).</a:t>
            </a:r>
            <a:endParaRPr lang="en-US" sz="15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FUNCIONES · MOUSE Y TECLADO</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Un panel táctil y un teclado en tu bolsillo</a:t>
            </a:r>
            <a:endParaRPr lang="en-US" sz="3600" dirty="0"/>
          </a:p>
        </p:txBody>
      </p:sp>
      <p:pic>
        <p:nvPicPr>
          <p:cNvPr id="4" name="celular-79" descr="Panel táctil del control">    </p:cNvPr>
          <p:cNvPicPr>
            <a:picLocks noChangeAspect="1"/>
          </p:cNvPicPr>
          <p:nvPr/>
        </p:nvPicPr>
        <p:blipFill>
          <a:blip r:embed="rId1"/>
          <a:stretch>
            <a:fillRect/>
          </a:stretch>
        </p:blipFill>
        <p:spPr>
          <a:xfrm>
            <a:off x="640080" y="1645920"/>
            <a:ext cx="2131629" cy="4480560"/>
          </a:xfrm>
          <a:prstGeom prst="rect">
            <a:avLst/>
          </a:prstGeom>
        </p:spPr>
      </p:pic>
      <p:pic>
        <p:nvPicPr>
          <p:cNvPr id="5" name="celular-80" descr="Teclado del control">    </p:cNvPr>
          <p:cNvPicPr>
            <a:picLocks noChangeAspect="1"/>
          </p:cNvPicPr>
          <p:nvPr/>
        </p:nvPicPr>
        <p:blipFill>
          <a:blip r:embed="rId2"/>
          <a:stretch>
            <a:fillRect/>
          </a:stretch>
        </p:blipFill>
        <p:spPr>
          <a:xfrm>
            <a:off x="2971800" y="1645920"/>
            <a:ext cx="2131629" cy="4480560"/>
          </a:xfrm>
          <a:prstGeom prst="rect">
            <a:avLst/>
          </a:prstGeom>
        </p:spPr>
      </p:pic>
      <p:sp>
        <p:nvSpPr>
          <p:cNvPr id="6" name="marco-81"/>
          <p:cNvSpPr/>
          <p:nvPr/>
        </p:nvSpPr>
        <p:spPr>
          <a:xfrm>
            <a:off x="5669280" y="1737360"/>
            <a:ext cx="5882335" cy="3308814"/>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7" name="captura-82" descr="Cursor remoto sobre la presentación">    </p:cNvPr>
          <p:cNvPicPr>
            <a:picLocks noChangeAspect="1"/>
          </p:cNvPicPr>
          <p:nvPr/>
        </p:nvPicPr>
        <p:blipFill>
          <a:blip r:embed="rId3"/>
          <a:stretch>
            <a:fillRect/>
          </a:stretch>
        </p:blipFill>
        <p:spPr>
          <a:xfrm>
            <a:off x="5669280" y="1737360"/>
            <a:ext cx="5882335" cy="3308814"/>
          </a:xfrm>
          <a:prstGeom prst="rect">
            <a:avLst/>
          </a:prstGeom>
        </p:spPr>
      </p:pic>
      <p:sp>
        <p:nvSpPr>
          <p:cNvPr id="8" name="texto-83"/>
          <p:cNvSpPr txBox="1"/>
          <p:nvPr/>
        </p:nvSpPr>
        <p:spPr>
          <a:xfrm>
            <a:off x="5669280" y="5366214"/>
            <a:ext cx="2804008"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Mouse</a:t>
            </a:r>
            <a:endParaRPr lang="en-US" sz="1600" dirty="0"/>
          </a:p>
          <a:p>
            <a:pPr indent="0" marL="0">
              <a:buNone/>
            </a:pPr>
            <a:r>
              <a:rPr lang="en-US" sz="1400" dirty="0">
                <a:solidFill>
                  <a:schemeClr val="accent6"/>
                </a:solidFill>
              </a:rPr>
              <a:t>Clic, doble clic, clic derecho con dos dedos, arrastrar y desplazar.</a:t>
            </a:r>
            <a:endParaRPr lang="en-US" sz="1600" dirty="0"/>
          </a:p>
        </p:txBody>
      </p:sp>
      <p:sp>
        <p:nvSpPr>
          <p:cNvPr id="9" name="texto-84"/>
          <p:cNvSpPr txBox="1"/>
          <p:nvPr/>
        </p:nvSpPr>
        <p:spPr>
          <a:xfrm>
            <a:off x="8747608" y="5366214"/>
            <a:ext cx="2804008" cy="91440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Teclado</a:t>
            </a:r>
            <a:endParaRPr lang="en-US" sz="1600" dirty="0"/>
          </a:p>
          <a:p>
            <a:pPr indent="0" marL="0">
              <a:buNone/>
            </a:pPr>
            <a:r>
              <a:rPr lang="en-US" sz="1400" dirty="0">
                <a:solidFill>
                  <a:schemeClr val="accent6"/>
                </a:solidFill>
              </a:rPr>
              <a:t>Escribe en vivo y usa Esc, Tab, flechas, borrar e Intro.</a:t>
            </a:r>
            <a:endParaRPr lang="en-US" sz="16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BENEFICIOS</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Por qué usar Presentazo</a:t>
            </a:r>
            <a:endParaRPr lang="en-US" sz="3600" dirty="0"/>
          </a:p>
        </p:txBody>
      </p:sp>
      <p:sp>
        <p:nvSpPr>
          <p:cNvPr id="4" name="tarjeta-85"/>
          <p:cNvSpPr/>
          <p:nvPr/>
        </p:nvSpPr>
        <p:spPr>
          <a:xfrm>
            <a:off x="640080" y="1783080"/>
            <a:ext cx="3429914" cy="2011680"/>
          </a:xfrm>
          <a:prstGeom prst="roundRect">
            <a:avLst>
              <a:gd name="adj" fmla="val 7273"/>
            </a:avLst>
          </a:prstGeom>
          <a:solidFill>
            <a:schemeClr val="bg2"/>
          </a:solidFill>
          <a:ln/>
        </p:spPr>
      </p:sp>
      <p:sp>
        <p:nvSpPr>
          <p:cNvPr id="5" name="icono-fondo-86"/>
          <p:cNvSpPr/>
          <p:nvPr/>
        </p:nvSpPr>
        <p:spPr>
          <a:xfrm>
            <a:off x="932688" y="2075688"/>
            <a:ext cx="566928" cy="566928"/>
          </a:xfrm>
          <a:prstGeom prst="roundRect">
            <a:avLst>
              <a:gd name="adj" fmla="val 26000"/>
            </a:avLst>
          </a:prstGeom>
          <a:solidFill>
            <a:schemeClr val="tx1"/>
          </a:solidFill>
          <a:ln/>
        </p:spPr>
      </p:sp>
      <p:pic>
        <p:nvPicPr>
          <p:cNvPr id="6" name="icono-LuQrCode-87" descr="preencoded.png">    </p:cNvPr>
          <p:cNvPicPr>
            <a:picLocks noChangeAspect="1"/>
          </p:cNvPicPr>
          <p:nvPr/>
        </p:nvPicPr>
        <p:blipFill>
          <a:blip r:embed="rId1"/>
          <a:stretch>
            <a:fillRect/>
          </a:stretch>
        </p:blipFill>
        <p:spPr>
          <a:xfrm>
            <a:off x="1068751" y="2211751"/>
            <a:ext cx="294803" cy="294803"/>
          </a:xfrm>
          <a:prstGeom prst="rect">
            <a:avLst/>
          </a:prstGeom>
        </p:spPr>
      </p:pic>
      <p:sp>
        <p:nvSpPr>
          <p:cNvPr id="7" name="texto-88"/>
          <p:cNvSpPr txBox="1"/>
          <p:nvPr/>
        </p:nvSpPr>
        <p:spPr>
          <a:xfrm>
            <a:off x="932688" y="2807208"/>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Sin instalar nada</a:t>
            </a:r>
            <a:endParaRPr lang="en-US" sz="1700" dirty="0"/>
          </a:p>
          <a:p>
            <a:pPr indent="0" marL="0">
              <a:buNone/>
            </a:pPr>
            <a:r>
              <a:rPr lang="en-US" sz="1400" dirty="0">
                <a:solidFill>
                  <a:schemeClr val="accent6"/>
                </a:solidFill>
              </a:rPr>
              <a:t>El QR abre el control en el navegador; no hay apps ni cuentas.</a:t>
            </a:r>
            <a:endParaRPr lang="en-US" sz="1700" dirty="0"/>
          </a:p>
        </p:txBody>
      </p:sp>
      <p:sp>
        <p:nvSpPr>
          <p:cNvPr id="8" name="tarjeta-89"/>
          <p:cNvSpPr/>
          <p:nvPr/>
        </p:nvSpPr>
        <p:spPr>
          <a:xfrm>
            <a:off x="4380890" y="1783080"/>
            <a:ext cx="3429914" cy="2011680"/>
          </a:xfrm>
          <a:prstGeom prst="roundRect">
            <a:avLst>
              <a:gd name="adj" fmla="val 7273"/>
            </a:avLst>
          </a:prstGeom>
          <a:solidFill>
            <a:schemeClr val="bg2"/>
          </a:solidFill>
          <a:ln/>
        </p:spPr>
      </p:sp>
      <p:sp>
        <p:nvSpPr>
          <p:cNvPr id="9" name="icono-fondo-90"/>
          <p:cNvSpPr/>
          <p:nvPr/>
        </p:nvSpPr>
        <p:spPr>
          <a:xfrm>
            <a:off x="4673498" y="2075688"/>
            <a:ext cx="566928" cy="566928"/>
          </a:xfrm>
          <a:prstGeom prst="roundRect">
            <a:avLst>
              <a:gd name="adj" fmla="val 26000"/>
            </a:avLst>
          </a:prstGeom>
          <a:solidFill>
            <a:schemeClr val="tx1"/>
          </a:solidFill>
          <a:ln/>
        </p:spPr>
      </p:sp>
      <p:pic>
        <p:nvPicPr>
          <p:cNvPr id="10" name="icono-LuWallet-91" descr="preencoded.png">    </p:cNvPr>
          <p:cNvPicPr>
            <a:picLocks noChangeAspect="1"/>
          </p:cNvPicPr>
          <p:nvPr/>
        </p:nvPicPr>
        <p:blipFill>
          <a:blip r:embed="rId2"/>
          <a:stretch>
            <a:fillRect/>
          </a:stretch>
        </p:blipFill>
        <p:spPr>
          <a:xfrm>
            <a:off x="4809561" y="2211751"/>
            <a:ext cx="294803" cy="294803"/>
          </a:xfrm>
          <a:prstGeom prst="rect">
            <a:avLst/>
          </a:prstGeom>
        </p:spPr>
      </p:pic>
      <p:sp>
        <p:nvSpPr>
          <p:cNvPr id="11" name="texto-92"/>
          <p:cNvSpPr txBox="1"/>
          <p:nvPr/>
        </p:nvSpPr>
        <p:spPr>
          <a:xfrm>
            <a:off x="4673498" y="2807208"/>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Gratis, sin hardware</a:t>
            </a:r>
            <a:endParaRPr lang="en-US" sz="1700" dirty="0"/>
          </a:p>
          <a:p>
            <a:pPr indent="0" marL="0">
              <a:buNone/>
            </a:pPr>
            <a:r>
              <a:rPr lang="en-US" sz="1400" dirty="0">
                <a:solidFill>
                  <a:schemeClr val="accent6"/>
                </a:solidFill>
              </a:rPr>
              <a:t>No necesitas comprar un control remoto, pilas ni receptores.</a:t>
            </a:r>
            <a:endParaRPr lang="en-US" sz="1700" dirty="0"/>
          </a:p>
        </p:txBody>
      </p:sp>
      <p:sp>
        <p:nvSpPr>
          <p:cNvPr id="12" name="tarjeta-93"/>
          <p:cNvSpPr/>
          <p:nvPr/>
        </p:nvSpPr>
        <p:spPr>
          <a:xfrm>
            <a:off x="8121701" y="1783080"/>
            <a:ext cx="3429914" cy="2011680"/>
          </a:xfrm>
          <a:prstGeom prst="roundRect">
            <a:avLst>
              <a:gd name="adj" fmla="val 7273"/>
            </a:avLst>
          </a:prstGeom>
          <a:solidFill>
            <a:schemeClr val="bg2"/>
          </a:solidFill>
          <a:ln/>
        </p:spPr>
      </p:sp>
      <p:sp>
        <p:nvSpPr>
          <p:cNvPr id="13" name="icono-fondo-94"/>
          <p:cNvSpPr/>
          <p:nvPr/>
        </p:nvSpPr>
        <p:spPr>
          <a:xfrm>
            <a:off x="8414309" y="2075688"/>
            <a:ext cx="566928" cy="566928"/>
          </a:xfrm>
          <a:prstGeom prst="roundRect">
            <a:avLst>
              <a:gd name="adj" fmla="val 26000"/>
            </a:avLst>
          </a:prstGeom>
          <a:solidFill>
            <a:schemeClr val="tx1"/>
          </a:solidFill>
          <a:ln/>
        </p:spPr>
      </p:sp>
      <p:pic>
        <p:nvPicPr>
          <p:cNvPr id="14" name="icono-LuMove-95" descr="preencoded.png">    </p:cNvPr>
          <p:cNvPicPr>
            <a:picLocks noChangeAspect="1"/>
          </p:cNvPicPr>
          <p:nvPr/>
        </p:nvPicPr>
        <p:blipFill>
          <a:blip r:embed="rId3"/>
          <a:stretch>
            <a:fillRect/>
          </a:stretch>
        </p:blipFill>
        <p:spPr>
          <a:xfrm>
            <a:off x="8550372" y="2211751"/>
            <a:ext cx="294803" cy="294803"/>
          </a:xfrm>
          <a:prstGeom prst="rect">
            <a:avLst/>
          </a:prstGeom>
        </p:spPr>
      </p:pic>
      <p:sp>
        <p:nvSpPr>
          <p:cNvPr id="15" name="texto-96"/>
          <p:cNvSpPr txBox="1"/>
          <p:nvPr/>
        </p:nvSpPr>
        <p:spPr>
          <a:xfrm>
            <a:off x="8414309" y="2807208"/>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Libertad de movimiento</a:t>
            </a:r>
            <a:endParaRPr lang="en-US" sz="1700" dirty="0"/>
          </a:p>
          <a:p>
            <a:pPr indent="0" marL="0">
              <a:buNone/>
            </a:pPr>
            <a:r>
              <a:rPr lang="en-US" sz="1400" dirty="0">
                <a:solidFill>
                  <a:schemeClr val="accent6"/>
                </a:solidFill>
              </a:rPr>
              <a:t>Presenta desde cualquier punto de la sala, mirando al público.</a:t>
            </a:r>
            <a:endParaRPr lang="en-US" sz="1700" dirty="0"/>
          </a:p>
        </p:txBody>
      </p:sp>
      <p:sp>
        <p:nvSpPr>
          <p:cNvPr id="16" name="tarjeta-97"/>
          <p:cNvSpPr/>
          <p:nvPr/>
        </p:nvSpPr>
        <p:spPr>
          <a:xfrm>
            <a:off x="640080" y="3995928"/>
            <a:ext cx="3429914" cy="2011680"/>
          </a:xfrm>
          <a:prstGeom prst="roundRect">
            <a:avLst>
              <a:gd name="adj" fmla="val 7273"/>
            </a:avLst>
          </a:prstGeom>
          <a:solidFill>
            <a:schemeClr val="bg2"/>
          </a:solidFill>
          <a:ln/>
        </p:spPr>
      </p:sp>
      <p:sp>
        <p:nvSpPr>
          <p:cNvPr id="17" name="icono-fondo-98"/>
          <p:cNvSpPr/>
          <p:nvPr/>
        </p:nvSpPr>
        <p:spPr>
          <a:xfrm>
            <a:off x="932688" y="4288536"/>
            <a:ext cx="566928" cy="566928"/>
          </a:xfrm>
          <a:prstGeom prst="roundRect">
            <a:avLst>
              <a:gd name="adj" fmla="val 26000"/>
            </a:avLst>
          </a:prstGeom>
          <a:solidFill>
            <a:schemeClr val="tx1"/>
          </a:solidFill>
          <a:ln/>
        </p:spPr>
      </p:sp>
      <p:pic>
        <p:nvPicPr>
          <p:cNvPr id="18" name="icono-LuMonitorSmartphone-99" descr="preencoded.png">    </p:cNvPr>
          <p:cNvPicPr>
            <a:picLocks noChangeAspect="1"/>
          </p:cNvPicPr>
          <p:nvPr/>
        </p:nvPicPr>
        <p:blipFill>
          <a:blip r:embed="rId4"/>
          <a:stretch>
            <a:fillRect/>
          </a:stretch>
        </p:blipFill>
        <p:spPr>
          <a:xfrm>
            <a:off x="1068751" y="4424599"/>
            <a:ext cx="294803" cy="294803"/>
          </a:xfrm>
          <a:prstGeom prst="rect">
            <a:avLst/>
          </a:prstGeom>
        </p:spPr>
      </p:pic>
      <p:sp>
        <p:nvSpPr>
          <p:cNvPr id="19" name="texto-100"/>
          <p:cNvSpPr txBox="1"/>
          <p:nvPr/>
        </p:nvSpPr>
        <p:spPr>
          <a:xfrm>
            <a:off x="932688" y="5020056"/>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Láser que siempre se ve</a:t>
            </a:r>
            <a:endParaRPr lang="en-US" sz="1700" dirty="0"/>
          </a:p>
          <a:p>
            <a:pPr indent="0" marL="0">
              <a:buNone/>
            </a:pPr>
            <a:r>
              <a:rPr lang="en-US" sz="1400" dirty="0">
                <a:solidFill>
                  <a:schemeClr val="accent6"/>
                </a:solidFill>
              </a:rPr>
              <a:t>Funciona en proyectores, televisores y pantallas LED.</a:t>
            </a:r>
            <a:endParaRPr lang="en-US" sz="1700" dirty="0"/>
          </a:p>
        </p:txBody>
      </p:sp>
      <p:sp>
        <p:nvSpPr>
          <p:cNvPr id="20" name="tarjeta-101"/>
          <p:cNvSpPr/>
          <p:nvPr/>
        </p:nvSpPr>
        <p:spPr>
          <a:xfrm>
            <a:off x="4380890" y="3995928"/>
            <a:ext cx="3429914" cy="2011680"/>
          </a:xfrm>
          <a:prstGeom prst="roundRect">
            <a:avLst>
              <a:gd name="adj" fmla="val 7273"/>
            </a:avLst>
          </a:prstGeom>
          <a:solidFill>
            <a:schemeClr val="bg2"/>
          </a:solidFill>
          <a:ln/>
        </p:spPr>
      </p:sp>
      <p:sp>
        <p:nvSpPr>
          <p:cNvPr id="21" name="icono-fondo-102"/>
          <p:cNvSpPr/>
          <p:nvPr/>
        </p:nvSpPr>
        <p:spPr>
          <a:xfrm>
            <a:off x="4673498" y="4288536"/>
            <a:ext cx="566928" cy="566928"/>
          </a:xfrm>
          <a:prstGeom prst="roundRect">
            <a:avLst>
              <a:gd name="adj" fmla="val 26000"/>
            </a:avLst>
          </a:prstGeom>
          <a:solidFill>
            <a:schemeClr val="tx1"/>
          </a:solidFill>
          <a:ln/>
        </p:spPr>
      </p:sp>
      <p:pic>
        <p:nvPicPr>
          <p:cNvPr id="22" name="icono-LuLayers-103" descr="preencoded.png">    </p:cNvPr>
          <p:cNvPicPr>
            <a:picLocks noChangeAspect="1"/>
          </p:cNvPicPr>
          <p:nvPr/>
        </p:nvPicPr>
        <p:blipFill>
          <a:blip r:embed="rId5"/>
          <a:stretch>
            <a:fillRect/>
          </a:stretch>
        </p:blipFill>
        <p:spPr>
          <a:xfrm>
            <a:off x="4809561" y="4424599"/>
            <a:ext cx="294803" cy="294803"/>
          </a:xfrm>
          <a:prstGeom prst="rect">
            <a:avLst/>
          </a:prstGeom>
        </p:spPr>
      </p:pic>
      <p:sp>
        <p:nvSpPr>
          <p:cNvPr id="23" name="texto-104"/>
          <p:cNvSpPr txBox="1"/>
          <p:nvPr/>
        </p:nvSpPr>
        <p:spPr>
          <a:xfrm>
            <a:off x="4673498" y="5020056"/>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Todo en uno</a:t>
            </a:r>
            <a:endParaRPr lang="en-US" sz="1700" dirty="0"/>
          </a:p>
          <a:p>
            <a:pPr indent="0" marL="0">
              <a:buNone/>
            </a:pPr>
            <a:r>
              <a:rPr lang="en-US" sz="1400" dirty="0">
                <a:solidFill>
                  <a:schemeClr val="accent6"/>
                </a:solidFill>
              </a:rPr>
              <a:t>Control, láser, foco, lápiz, mouse y teclado en una sola app.</a:t>
            </a:r>
            <a:endParaRPr lang="en-US" sz="1700" dirty="0"/>
          </a:p>
        </p:txBody>
      </p:sp>
      <p:sp>
        <p:nvSpPr>
          <p:cNvPr id="24" name="tarjeta-105"/>
          <p:cNvSpPr/>
          <p:nvPr/>
        </p:nvSpPr>
        <p:spPr>
          <a:xfrm>
            <a:off x="8121701" y="3995928"/>
            <a:ext cx="3429914" cy="2011680"/>
          </a:xfrm>
          <a:prstGeom prst="roundRect">
            <a:avLst>
              <a:gd name="adj" fmla="val 7273"/>
            </a:avLst>
          </a:prstGeom>
          <a:solidFill>
            <a:schemeClr val="bg2"/>
          </a:solidFill>
          <a:ln/>
        </p:spPr>
      </p:sp>
      <p:sp>
        <p:nvSpPr>
          <p:cNvPr id="25" name="icono-fondo-106"/>
          <p:cNvSpPr/>
          <p:nvPr/>
        </p:nvSpPr>
        <p:spPr>
          <a:xfrm>
            <a:off x="8414309" y="4288536"/>
            <a:ext cx="566928" cy="566928"/>
          </a:xfrm>
          <a:prstGeom prst="roundRect">
            <a:avLst>
              <a:gd name="adj" fmla="val 26000"/>
            </a:avLst>
          </a:prstGeom>
          <a:solidFill>
            <a:schemeClr val="tx1"/>
          </a:solidFill>
          <a:ln/>
        </p:spPr>
      </p:sp>
      <p:pic>
        <p:nvPicPr>
          <p:cNvPr id="26" name="icono-LuShieldCheck-107" descr="preencoded.png">    </p:cNvPr>
          <p:cNvPicPr>
            <a:picLocks noChangeAspect="1"/>
          </p:cNvPicPr>
          <p:nvPr/>
        </p:nvPicPr>
        <p:blipFill>
          <a:blip r:embed="rId6"/>
          <a:stretch>
            <a:fillRect/>
          </a:stretch>
        </p:blipFill>
        <p:spPr>
          <a:xfrm>
            <a:off x="8550372" y="4424599"/>
            <a:ext cx="294803" cy="294803"/>
          </a:xfrm>
          <a:prstGeom prst="rect">
            <a:avLst/>
          </a:prstGeom>
        </p:spPr>
      </p:pic>
      <p:sp>
        <p:nvSpPr>
          <p:cNvPr id="27" name="texto-108"/>
          <p:cNvSpPr txBox="1"/>
          <p:nvPr/>
        </p:nvSpPr>
        <p:spPr>
          <a:xfrm>
            <a:off x="8414309" y="5020056"/>
            <a:ext cx="2844698" cy="86868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Privado</a:t>
            </a:r>
            <a:endParaRPr lang="en-US" sz="1700" dirty="0"/>
          </a:p>
          <a:p>
            <a:pPr indent="0" marL="0">
              <a:buNone/>
            </a:pPr>
            <a:r>
              <a:rPr lang="en-US" sz="1400" dirty="0">
                <a:solidFill>
                  <a:schemeClr val="accent6"/>
                </a:solidFill>
              </a:rPr>
              <a:t>Sin anuncios ni recopilación de datos; conexión cifrada.</a:t>
            </a:r>
            <a:endParaRPr lang="en-US" sz="17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COMPATIBILIDAD</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Funciona con las herramientas que ya usas</a:t>
            </a:r>
            <a:endParaRPr lang="en-US" sz="3600" dirty="0"/>
          </a:p>
        </p:txBody>
      </p:sp>
      <p:sp>
        <p:nvSpPr>
          <p:cNvPr id="4" name="icono-fondo-109"/>
          <p:cNvSpPr/>
          <p:nvPr/>
        </p:nvSpPr>
        <p:spPr>
          <a:xfrm>
            <a:off x="640080" y="1783080"/>
            <a:ext cx="502920" cy="502920"/>
          </a:xfrm>
          <a:prstGeom prst="roundRect">
            <a:avLst>
              <a:gd name="adj" fmla="val 26000"/>
            </a:avLst>
          </a:prstGeom>
          <a:solidFill>
            <a:schemeClr val="tx1"/>
          </a:solidFill>
          <a:ln/>
        </p:spPr>
      </p:sp>
      <p:pic>
        <p:nvPicPr>
          <p:cNvPr id="5" name="icono-LuPresentation-110" descr="preencoded.png">    </p:cNvPr>
          <p:cNvPicPr>
            <a:picLocks noChangeAspect="1"/>
          </p:cNvPicPr>
          <p:nvPr/>
        </p:nvPicPr>
        <p:blipFill>
          <a:blip r:embed="rId1"/>
          <a:stretch>
            <a:fillRect/>
          </a:stretch>
        </p:blipFill>
        <p:spPr>
          <a:xfrm>
            <a:off x="760781" y="1903781"/>
            <a:ext cx="261518" cy="261518"/>
          </a:xfrm>
          <a:prstGeom prst="rect">
            <a:avLst/>
          </a:prstGeom>
        </p:spPr>
      </p:pic>
      <p:sp>
        <p:nvSpPr>
          <p:cNvPr id="6" name="presentaciones"/>
          <p:cNvSpPr txBox="1"/>
          <p:nvPr/>
        </p:nvSpPr>
        <p:spPr>
          <a:xfrm>
            <a:off x="1325880" y="1783080"/>
            <a:ext cx="4572000" cy="502920"/>
          </a:xfrm>
          <a:prstGeom prst="rect">
            <a:avLst/>
          </a:prstGeom>
          <a:noFill/>
          <a:ln/>
        </p:spPr>
        <p:txBody>
          <a:bodyPr wrap="square" lIns="0" tIns="0" rIns="0" bIns="0" rtlCol="0" anchor="ctr"/>
          <a:lstStyle/>
          <a:p>
            <a:pPr indent="0" marL="0">
              <a:buNone/>
            </a:pPr>
            <a:r>
              <a:rPr lang="en-US" sz="1800" b="1" dirty="0">
                <a:solidFill>
                  <a:schemeClr val="tx1"/>
                </a:solidFill>
              </a:rPr>
              <a:t>Presentaciones</a:t>
            </a:r>
            <a:endParaRPr lang="en-US" sz="1800" dirty="0"/>
          </a:p>
        </p:txBody>
      </p:sp>
      <p:sp>
        <p:nvSpPr>
          <p:cNvPr id="7" name="chip-111"/>
          <p:cNvSpPr/>
          <p:nvPr/>
        </p:nvSpPr>
        <p:spPr>
          <a:xfrm>
            <a:off x="640080" y="2560320"/>
            <a:ext cx="1915668" cy="438912"/>
          </a:xfrm>
          <a:prstGeom prst="roundRect">
            <a:avLst>
              <a:gd name="adj" fmla="val 50000"/>
            </a:avLst>
          </a:prstGeom>
          <a:solidFill>
            <a:schemeClr val="bg2"/>
          </a:solidFill>
          <a:ln/>
        </p:spPr>
      </p:sp>
      <p:pic>
        <p:nvPicPr>
          <p:cNvPr id="8" name="verificado-112" descr="Verificado">    </p:cNvPr>
          <p:cNvPicPr>
            <a:picLocks noChangeAspect="1"/>
          </p:cNvPicPr>
          <p:nvPr/>
        </p:nvPicPr>
        <p:blipFill>
          <a:blip r:embed="rId2"/>
          <a:stretch>
            <a:fillRect/>
          </a:stretch>
        </p:blipFill>
        <p:spPr>
          <a:xfrm>
            <a:off x="786384" y="2670048"/>
            <a:ext cx="219456" cy="219456"/>
          </a:xfrm>
          <a:prstGeom prst="rect">
            <a:avLst/>
          </a:prstGeom>
        </p:spPr>
      </p:pic>
      <p:sp>
        <p:nvSpPr>
          <p:cNvPr id="9" name="chip-texto-113"/>
          <p:cNvSpPr txBox="1"/>
          <p:nvPr/>
        </p:nvSpPr>
        <p:spPr>
          <a:xfrm>
            <a:off x="1097280" y="2560320"/>
            <a:ext cx="1367028" cy="438912"/>
          </a:xfrm>
          <a:prstGeom prst="rect">
            <a:avLst/>
          </a:prstGeom>
          <a:noFill/>
          <a:ln/>
        </p:spPr>
        <p:txBody>
          <a:bodyPr wrap="square" lIns="0" tIns="0" rIns="0" bIns="0" rtlCol="0" anchor="ctr"/>
          <a:lstStyle/>
          <a:p>
            <a:pPr indent="0" marL="0">
              <a:buNone/>
            </a:pPr>
            <a:r>
              <a:rPr lang="en-US" sz="1400" b="1" dirty="0">
                <a:solidFill>
                  <a:schemeClr val="tx1"/>
                </a:solidFill>
              </a:rPr>
              <a:t>Google Slides</a:t>
            </a:r>
            <a:endParaRPr lang="en-US" sz="1400" dirty="0"/>
          </a:p>
        </p:txBody>
      </p:sp>
      <p:sp>
        <p:nvSpPr>
          <p:cNvPr id="10" name="chip-114"/>
          <p:cNvSpPr/>
          <p:nvPr/>
        </p:nvSpPr>
        <p:spPr>
          <a:xfrm>
            <a:off x="2683764" y="2560320"/>
            <a:ext cx="1531620" cy="438912"/>
          </a:xfrm>
          <a:prstGeom prst="roundRect">
            <a:avLst>
              <a:gd name="adj" fmla="val 50000"/>
            </a:avLst>
          </a:prstGeom>
          <a:solidFill>
            <a:schemeClr val="bg2"/>
          </a:solidFill>
          <a:ln/>
        </p:spPr>
      </p:sp>
      <p:pic>
        <p:nvPicPr>
          <p:cNvPr id="11" name="verificado-115" descr="Verificado">    </p:cNvPr>
          <p:cNvPicPr>
            <a:picLocks noChangeAspect="1"/>
          </p:cNvPicPr>
          <p:nvPr/>
        </p:nvPicPr>
        <p:blipFill>
          <a:blip r:embed="rId3"/>
          <a:stretch>
            <a:fillRect/>
          </a:stretch>
        </p:blipFill>
        <p:spPr>
          <a:xfrm>
            <a:off x="2830068" y="2670048"/>
            <a:ext cx="219456" cy="219456"/>
          </a:xfrm>
          <a:prstGeom prst="rect">
            <a:avLst/>
          </a:prstGeom>
        </p:spPr>
      </p:pic>
      <p:sp>
        <p:nvSpPr>
          <p:cNvPr id="12" name="chip-texto-116"/>
          <p:cNvSpPr txBox="1"/>
          <p:nvPr/>
        </p:nvSpPr>
        <p:spPr>
          <a:xfrm>
            <a:off x="3140964" y="2560320"/>
            <a:ext cx="982980" cy="438912"/>
          </a:xfrm>
          <a:prstGeom prst="rect">
            <a:avLst/>
          </a:prstGeom>
          <a:noFill/>
          <a:ln/>
        </p:spPr>
        <p:txBody>
          <a:bodyPr wrap="square" lIns="0" tIns="0" rIns="0" bIns="0" rtlCol="0" anchor="ctr"/>
          <a:lstStyle/>
          <a:p>
            <a:pPr indent="0" marL="0">
              <a:buNone/>
            </a:pPr>
            <a:r>
              <a:rPr lang="en-US" sz="1400" b="1" dirty="0">
                <a:solidFill>
                  <a:schemeClr val="tx1"/>
                </a:solidFill>
              </a:rPr>
              <a:t>reveal.js</a:t>
            </a:r>
            <a:endParaRPr lang="en-US" sz="1400" dirty="0"/>
          </a:p>
        </p:txBody>
      </p:sp>
      <p:sp>
        <p:nvSpPr>
          <p:cNvPr id="13" name="chip-117"/>
          <p:cNvSpPr/>
          <p:nvPr/>
        </p:nvSpPr>
        <p:spPr>
          <a:xfrm>
            <a:off x="640080" y="3127248"/>
            <a:ext cx="2478024" cy="438912"/>
          </a:xfrm>
          <a:prstGeom prst="roundRect">
            <a:avLst>
              <a:gd name="adj" fmla="val 50000"/>
            </a:avLst>
          </a:prstGeom>
          <a:solidFill>
            <a:schemeClr val="bg2"/>
          </a:solidFill>
          <a:ln/>
        </p:spPr>
      </p:sp>
      <p:sp>
        <p:nvSpPr>
          <p:cNvPr id="14" name="chip-texto-118"/>
          <p:cNvSpPr txBox="1"/>
          <p:nvPr/>
        </p:nvSpPr>
        <p:spPr>
          <a:xfrm>
            <a:off x="822960" y="3127248"/>
            <a:ext cx="2203704" cy="438912"/>
          </a:xfrm>
          <a:prstGeom prst="rect">
            <a:avLst/>
          </a:prstGeom>
          <a:noFill/>
          <a:ln/>
        </p:spPr>
        <p:txBody>
          <a:bodyPr wrap="square" lIns="0" tIns="0" rIns="0" bIns="0" rtlCol="0" anchor="ctr"/>
          <a:lstStyle/>
          <a:p>
            <a:pPr indent="0" marL="0">
              <a:buNone/>
            </a:pPr>
            <a:r>
              <a:rPr lang="en-US" sz="1400" dirty="0">
                <a:solidFill>
                  <a:schemeClr val="tx1"/>
                </a:solidFill>
              </a:rPr>
              <a:t>PowerPoint para la web</a:t>
            </a:r>
            <a:endParaRPr lang="en-US" sz="1400" dirty="0"/>
          </a:p>
        </p:txBody>
      </p:sp>
      <p:sp>
        <p:nvSpPr>
          <p:cNvPr id="15" name="chip-119"/>
          <p:cNvSpPr/>
          <p:nvPr/>
        </p:nvSpPr>
        <p:spPr>
          <a:xfrm>
            <a:off x="3246120" y="3127248"/>
            <a:ext cx="845820" cy="438912"/>
          </a:xfrm>
          <a:prstGeom prst="roundRect">
            <a:avLst>
              <a:gd name="adj" fmla="val 50000"/>
            </a:avLst>
          </a:prstGeom>
          <a:solidFill>
            <a:schemeClr val="bg2"/>
          </a:solidFill>
          <a:ln/>
        </p:spPr>
      </p:sp>
      <p:sp>
        <p:nvSpPr>
          <p:cNvPr id="16" name="chip-texto-120"/>
          <p:cNvSpPr txBox="1"/>
          <p:nvPr/>
        </p:nvSpPr>
        <p:spPr>
          <a:xfrm>
            <a:off x="3429000" y="3127248"/>
            <a:ext cx="571500" cy="438912"/>
          </a:xfrm>
          <a:prstGeom prst="rect">
            <a:avLst/>
          </a:prstGeom>
          <a:noFill/>
          <a:ln/>
        </p:spPr>
        <p:txBody>
          <a:bodyPr wrap="square" lIns="0" tIns="0" rIns="0" bIns="0" rtlCol="0" anchor="ctr"/>
          <a:lstStyle/>
          <a:p>
            <a:pPr indent="0" marL="0">
              <a:buNone/>
            </a:pPr>
            <a:r>
              <a:rPr lang="en-US" sz="1400" dirty="0">
                <a:solidFill>
                  <a:schemeClr val="tx1"/>
                </a:solidFill>
              </a:rPr>
              <a:t>Canva</a:t>
            </a:r>
            <a:endParaRPr lang="en-US" sz="1400" dirty="0"/>
          </a:p>
        </p:txBody>
      </p:sp>
      <p:sp>
        <p:nvSpPr>
          <p:cNvPr id="17" name="chip-121"/>
          <p:cNvSpPr/>
          <p:nvPr/>
        </p:nvSpPr>
        <p:spPr>
          <a:xfrm>
            <a:off x="4219956" y="3127248"/>
            <a:ext cx="845820" cy="438912"/>
          </a:xfrm>
          <a:prstGeom prst="roundRect">
            <a:avLst>
              <a:gd name="adj" fmla="val 50000"/>
            </a:avLst>
          </a:prstGeom>
          <a:solidFill>
            <a:schemeClr val="bg2"/>
          </a:solidFill>
          <a:ln/>
        </p:spPr>
      </p:sp>
      <p:sp>
        <p:nvSpPr>
          <p:cNvPr id="18" name="chip-texto-122"/>
          <p:cNvSpPr txBox="1"/>
          <p:nvPr/>
        </p:nvSpPr>
        <p:spPr>
          <a:xfrm>
            <a:off x="4402836" y="3127248"/>
            <a:ext cx="571500" cy="438912"/>
          </a:xfrm>
          <a:prstGeom prst="rect">
            <a:avLst/>
          </a:prstGeom>
          <a:noFill/>
          <a:ln/>
        </p:spPr>
        <p:txBody>
          <a:bodyPr wrap="square" lIns="0" tIns="0" rIns="0" bIns="0" rtlCol="0" anchor="ctr"/>
          <a:lstStyle/>
          <a:p>
            <a:pPr indent="0" marL="0">
              <a:buNone/>
            </a:pPr>
            <a:r>
              <a:rPr lang="en-US" sz="1400" dirty="0">
                <a:solidFill>
                  <a:schemeClr val="tx1"/>
                </a:solidFill>
              </a:rPr>
              <a:t>Pitch</a:t>
            </a:r>
            <a:endParaRPr lang="en-US" sz="1400" dirty="0"/>
          </a:p>
        </p:txBody>
      </p:sp>
      <p:sp>
        <p:nvSpPr>
          <p:cNvPr id="19" name="chip-123"/>
          <p:cNvSpPr/>
          <p:nvPr/>
        </p:nvSpPr>
        <p:spPr>
          <a:xfrm>
            <a:off x="640080" y="3694176"/>
            <a:ext cx="1517904" cy="438912"/>
          </a:xfrm>
          <a:prstGeom prst="roundRect">
            <a:avLst>
              <a:gd name="adj" fmla="val 50000"/>
            </a:avLst>
          </a:prstGeom>
          <a:solidFill>
            <a:schemeClr val="bg2"/>
          </a:solidFill>
          <a:ln/>
        </p:spPr>
      </p:sp>
      <p:sp>
        <p:nvSpPr>
          <p:cNvPr id="20" name="chip-texto-124"/>
          <p:cNvSpPr txBox="1"/>
          <p:nvPr/>
        </p:nvSpPr>
        <p:spPr>
          <a:xfrm>
            <a:off x="822960" y="3694176"/>
            <a:ext cx="1243584" cy="438912"/>
          </a:xfrm>
          <a:prstGeom prst="rect">
            <a:avLst/>
          </a:prstGeom>
          <a:noFill/>
          <a:ln/>
        </p:spPr>
        <p:txBody>
          <a:bodyPr wrap="square" lIns="0" tIns="0" rIns="0" bIns="0" rtlCol="0" anchor="ctr"/>
          <a:lstStyle/>
          <a:p>
            <a:pPr indent="0" marL="0">
              <a:buNone/>
            </a:pPr>
            <a:r>
              <a:rPr lang="en-US" sz="1400" dirty="0">
                <a:solidFill>
                  <a:schemeClr val="tx1"/>
                </a:solidFill>
              </a:rPr>
              <a:t>Figma Slides</a:t>
            </a:r>
            <a:endParaRPr lang="en-US" sz="1400" dirty="0"/>
          </a:p>
        </p:txBody>
      </p:sp>
      <p:sp>
        <p:nvSpPr>
          <p:cNvPr id="21" name="chip-125"/>
          <p:cNvSpPr/>
          <p:nvPr/>
        </p:nvSpPr>
        <p:spPr>
          <a:xfrm>
            <a:off x="2286000" y="3694176"/>
            <a:ext cx="845820" cy="438912"/>
          </a:xfrm>
          <a:prstGeom prst="roundRect">
            <a:avLst>
              <a:gd name="adj" fmla="val 50000"/>
            </a:avLst>
          </a:prstGeom>
          <a:solidFill>
            <a:schemeClr val="bg2"/>
          </a:solidFill>
          <a:ln/>
        </p:spPr>
      </p:sp>
      <p:sp>
        <p:nvSpPr>
          <p:cNvPr id="22" name="chip-texto-126"/>
          <p:cNvSpPr txBox="1"/>
          <p:nvPr/>
        </p:nvSpPr>
        <p:spPr>
          <a:xfrm>
            <a:off x="2468880" y="3694176"/>
            <a:ext cx="571500" cy="438912"/>
          </a:xfrm>
          <a:prstGeom prst="rect">
            <a:avLst/>
          </a:prstGeom>
          <a:noFill/>
          <a:ln/>
        </p:spPr>
        <p:txBody>
          <a:bodyPr wrap="square" lIns="0" tIns="0" rIns="0" bIns="0" rtlCol="0" anchor="ctr"/>
          <a:lstStyle/>
          <a:p>
            <a:pPr indent="0" marL="0">
              <a:buNone/>
            </a:pPr>
            <a:r>
              <a:rPr lang="en-US" sz="1400" dirty="0">
                <a:solidFill>
                  <a:schemeClr val="tx1"/>
                </a:solidFill>
              </a:rPr>
              <a:t>Gamma</a:t>
            </a:r>
            <a:endParaRPr lang="en-US" sz="1400" dirty="0"/>
          </a:p>
        </p:txBody>
      </p:sp>
      <p:sp>
        <p:nvSpPr>
          <p:cNvPr id="23" name="chip-127"/>
          <p:cNvSpPr/>
          <p:nvPr/>
        </p:nvSpPr>
        <p:spPr>
          <a:xfrm>
            <a:off x="3259836" y="3694176"/>
            <a:ext cx="845820" cy="438912"/>
          </a:xfrm>
          <a:prstGeom prst="roundRect">
            <a:avLst>
              <a:gd name="adj" fmla="val 50000"/>
            </a:avLst>
          </a:prstGeom>
          <a:solidFill>
            <a:schemeClr val="bg2"/>
          </a:solidFill>
          <a:ln/>
        </p:spPr>
      </p:sp>
      <p:sp>
        <p:nvSpPr>
          <p:cNvPr id="24" name="chip-texto-128"/>
          <p:cNvSpPr txBox="1"/>
          <p:nvPr/>
        </p:nvSpPr>
        <p:spPr>
          <a:xfrm>
            <a:off x="3442716" y="3694176"/>
            <a:ext cx="571500" cy="438912"/>
          </a:xfrm>
          <a:prstGeom prst="rect">
            <a:avLst/>
          </a:prstGeom>
          <a:noFill/>
          <a:ln/>
        </p:spPr>
        <p:txBody>
          <a:bodyPr wrap="square" lIns="0" tIns="0" rIns="0" bIns="0" rtlCol="0" anchor="ctr"/>
          <a:lstStyle/>
          <a:p>
            <a:pPr indent="0" marL="0">
              <a:buNone/>
            </a:pPr>
            <a:r>
              <a:rPr lang="en-US" sz="1400" dirty="0">
                <a:solidFill>
                  <a:schemeClr val="tx1"/>
                </a:solidFill>
              </a:rPr>
              <a:t>Prezi</a:t>
            </a:r>
            <a:endParaRPr lang="en-US" sz="1400" dirty="0"/>
          </a:p>
        </p:txBody>
      </p:sp>
      <p:sp>
        <p:nvSpPr>
          <p:cNvPr id="25" name="chip-129"/>
          <p:cNvSpPr/>
          <p:nvPr/>
        </p:nvSpPr>
        <p:spPr>
          <a:xfrm>
            <a:off x="4233672" y="3694176"/>
            <a:ext cx="1997964" cy="438912"/>
          </a:xfrm>
          <a:prstGeom prst="roundRect">
            <a:avLst>
              <a:gd name="adj" fmla="val 50000"/>
            </a:avLst>
          </a:prstGeom>
          <a:solidFill>
            <a:schemeClr val="bg2"/>
          </a:solidFill>
          <a:ln/>
        </p:spPr>
      </p:sp>
      <p:sp>
        <p:nvSpPr>
          <p:cNvPr id="26" name="chip-texto-130"/>
          <p:cNvSpPr txBox="1"/>
          <p:nvPr/>
        </p:nvSpPr>
        <p:spPr>
          <a:xfrm>
            <a:off x="4416552" y="3694176"/>
            <a:ext cx="1723644" cy="438912"/>
          </a:xfrm>
          <a:prstGeom prst="rect">
            <a:avLst/>
          </a:prstGeom>
          <a:noFill/>
          <a:ln/>
        </p:spPr>
        <p:txBody>
          <a:bodyPr wrap="square" lIns="0" tIns="0" rIns="0" bIns="0" rtlCol="0" anchor="ctr"/>
          <a:lstStyle/>
          <a:p>
            <a:pPr indent="0" marL="0">
              <a:buNone/>
            </a:pPr>
            <a:r>
              <a:rPr lang="en-US" sz="1400" dirty="0">
                <a:solidFill>
                  <a:schemeClr val="tx1"/>
                </a:solidFill>
              </a:rPr>
              <a:t>Keynote en iCloud</a:t>
            </a:r>
            <a:endParaRPr lang="en-US" sz="1400" dirty="0"/>
          </a:p>
        </p:txBody>
      </p:sp>
      <p:sp>
        <p:nvSpPr>
          <p:cNvPr id="27" name="chip-131"/>
          <p:cNvSpPr/>
          <p:nvPr/>
        </p:nvSpPr>
        <p:spPr>
          <a:xfrm>
            <a:off x="640080" y="4261104"/>
            <a:ext cx="1133856" cy="438912"/>
          </a:xfrm>
          <a:prstGeom prst="roundRect">
            <a:avLst>
              <a:gd name="adj" fmla="val 50000"/>
            </a:avLst>
          </a:prstGeom>
          <a:solidFill>
            <a:schemeClr val="bg2"/>
          </a:solidFill>
          <a:ln/>
        </p:spPr>
      </p:sp>
      <p:sp>
        <p:nvSpPr>
          <p:cNvPr id="28" name="chip-texto-132"/>
          <p:cNvSpPr txBox="1"/>
          <p:nvPr/>
        </p:nvSpPr>
        <p:spPr>
          <a:xfrm>
            <a:off x="822960" y="4261104"/>
            <a:ext cx="859536" cy="438912"/>
          </a:xfrm>
          <a:prstGeom prst="rect">
            <a:avLst/>
          </a:prstGeom>
          <a:noFill/>
          <a:ln/>
        </p:spPr>
        <p:txBody>
          <a:bodyPr wrap="square" lIns="0" tIns="0" rIns="0" bIns="0" rtlCol="0" anchor="ctr"/>
          <a:lstStyle/>
          <a:p>
            <a:pPr indent="0" marL="0">
              <a:buNone/>
            </a:pPr>
            <a:r>
              <a:rPr lang="en-US" sz="1400" dirty="0">
                <a:solidFill>
                  <a:schemeClr val="tx1"/>
                </a:solidFill>
              </a:rPr>
              <a:t>Genially</a:t>
            </a:r>
            <a:endParaRPr lang="en-US" sz="1400" dirty="0"/>
          </a:p>
        </p:txBody>
      </p:sp>
      <p:pic>
        <p:nvPicPr>
          <p:cNvPr id="29" name="leyenda-check" descr="preencoded.png">    </p:cNvPr>
          <p:cNvPicPr>
            <a:picLocks noChangeAspect="1"/>
          </p:cNvPicPr>
          <p:nvPr/>
        </p:nvPicPr>
        <p:blipFill>
          <a:blip r:embed="rId4"/>
          <a:stretch>
            <a:fillRect/>
          </a:stretch>
        </p:blipFill>
        <p:spPr>
          <a:xfrm>
            <a:off x="640080" y="5065776"/>
            <a:ext cx="219456" cy="219456"/>
          </a:xfrm>
          <a:prstGeom prst="rect">
            <a:avLst/>
          </a:prstGeom>
        </p:spPr>
      </p:pic>
      <p:sp>
        <p:nvSpPr>
          <p:cNvPr id="30" name="leyenda"/>
          <p:cNvSpPr txBox="1"/>
          <p:nvPr/>
        </p:nvSpPr>
        <p:spPr>
          <a:xfrm>
            <a:off x="960120" y="5038344"/>
            <a:ext cx="5486400" cy="548640"/>
          </a:xfrm>
          <a:prstGeom prst="rect">
            <a:avLst/>
          </a:prstGeom>
          <a:noFill/>
          <a:ln/>
        </p:spPr>
        <p:txBody>
          <a:bodyPr wrap="square" lIns="0" tIns="0" rIns="0" bIns="0" rtlCol="0" anchor="t"/>
          <a:lstStyle/>
          <a:p>
            <a:pPr indent="0" marL="0">
              <a:buNone/>
            </a:pPr>
            <a:r>
              <a:rPr lang="en-US" sz="1400" dirty="0">
                <a:solidFill>
                  <a:schemeClr val="accent6"/>
                </a:solidFill>
              </a:rPr>
              <a:t>Verificado con presentaciones reales. Además, cualquier página que avance con el teclado.</a:t>
            </a:r>
            <a:endParaRPr lang="en-US" sz="1400" dirty="0"/>
          </a:p>
        </p:txBody>
      </p:sp>
      <p:sp>
        <p:nvSpPr>
          <p:cNvPr id="31" name="tarjeta-133"/>
          <p:cNvSpPr/>
          <p:nvPr/>
        </p:nvSpPr>
        <p:spPr>
          <a:xfrm>
            <a:off x="7086600" y="1783080"/>
            <a:ext cx="4465015" cy="4251960"/>
          </a:xfrm>
          <a:prstGeom prst="roundRect">
            <a:avLst>
              <a:gd name="adj" fmla="val 3441"/>
            </a:avLst>
          </a:prstGeom>
          <a:solidFill>
            <a:schemeClr val="bg2"/>
          </a:solidFill>
          <a:ln/>
        </p:spPr>
      </p:sp>
      <p:sp>
        <p:nvSpPr>
          <p:cNvPr id="32" name="dispositivos"/>
          <p:cNvSpPr txBox="1"/>
          <p:nvPr/>
        </p:nvSpPr>
        <p:spPr>
          <a:xfrm>
            <a:off x="7406640" y="2011680"/>
            <a:ext cx="3824935" cy="411480"/>
          </a:xfrm>
          <a:prstGeom prst="rect">
            <a:avLst/>
          </a:prstGeom>
          <a:noFill/>
          <a:ln/>
        </p:spPr>
        <p:txBody>
          <a:bodyPr wrap="square" lIns="0" tIns="0" rIns="0" bIns="0" rtlCol="0" anchor="ctr"/>
          <a:lstStyle/>
          <a:p>
            <a:pPr indent="0" marL="0">
              <a:buNone/>
            </a:pPr>
            <a:r>
              <a:rPr lang="en-US" sz="1800" b="1" dirty="0">
                <a:solidFill>
                  <a:schemeClr val="tx1"/>
                </a:solidFill>
              </a:rPr>
              <a:t>Dispositivos</a:t>
            </a:r>
            <a:endParaRPr lang="en-US" sz="1800" dirty="0"/>
          </a:p>
        </p:txBody>
      </p:sp>
      <p:sp>
        <p:nvSpPr>
          <p:cNvPr id="33" name="icono-fondo-134"/>
          <p:cNvSpPr/>
          <p:nvPr/>
        </p:nvSpPr>
        <p:spPr>
          <a:xfrm>
            <a:off x="7406640" y="2651760"/>
            <a:ext cx="502920" cy="502920"/>
          </a:xfrm>
          <a:prstGeom prst="roundRect">
            <a:avLst>
              <a:gd name="adj" fmla="val 26000"/>
            </a:avLst>
          </a:prstGeom>
          <a:solidFill>
            <a:schemeClr val="tx1"/>
          </a:solidFill>
          <a:ln/>
        </p:spPr>
      </p:sp>
      <p:pic>
        <p:nvPicPr>
          <p:cNvPr id="34" name="icono-LuSmartphone-135" descr="preencoded.png">    </p:cNvPr>
          <p:cNvPicPr>
            <a:picLocks noChangeAspect="1"/>
          </p:cNvPicPr>
          <p:nvPr/>
        </p:nvPicPr>
        <p:blipFill>
          <a:blip r:embed="rId5"/>
          <a:stretch>
            <a:fillRect/>
          </a:stretch>
        </p:blipFill>
        <p:spPr>
          <a:xfrm>
            <a:off x="7527341" y="2772461"/>
            <a:ext cx="261518" cy="261518"/>
          </a:xfrm>
          <a:prstGeom prst="rect">
            <a:avLst/>
          </a:prstGeom>
        </p:spPr>
      </p:pic>
      <p:sp>
        <p:nvSpPr>
          <p:cNvPr id="35" name="texto-136"/>
          <p:cNvSpPr txBox="1"/>
          <p:nvPr/>
        </p:nvSpPr>
        <p:spPr>
          <a:xfrm>
            <a:off x="8092440" y="2624328"/>
            <a:ext cx="3139135"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Celulares iPhone y Android</a:t>
            </a:r>
            <a:endParaRPr lang="en-US" sz="1600" dirty="0"/>
          </a:p>
          <a:p>
            <a:pPr indent="0" marL="0">
              <a:buNone/>
            </a:pPr>
            <a:r>
              <a:rPr lang="en-US" sz="1400" dirty="0">
                <a:solidFill>
                  <a:schemeClr val="accent6"/>
                </a:solidFill>
              </a:rPr>
              <a:t>Desde pantallas de 320 px, en vertical u horizontal.</a:t>
            </a:r>
            <a:endParaRPr lang="en-US" sz="1600" dirty="0"/>
          </a:p>
        </p:txBody>
      </p:sp>
      <p:sp>
        <p:nvSpPr>
          <p:cNvPr id="36" name="icono-fondo-137"/>
          <p:cNvSpPr/>
          <p:nvPr/>
        </p:nvSpPr>
        <p:spPr>
          <a:xfrm>
            <a:off x="7406640" y="3749040"/>
            <a:ext cx="502920" cy="502920"/>
          </a:xfrm>
          <a:prstGeom prst="roundRect">
            <a:avLst>
              <a:gd name="adj" fmla="val 26000"/>
            </a:avLst>
          </a:prstGeom>
          <a:solidFill>
            <a:schemeClr val="tx1"/>
          </a:solidFill>
          <a:ln/>
        </p:spPr>
      </p:sp>
      <p:pic>
        <p:nvPicPr>
          <p:cNvPr id="37" name="icono-LuMonitorSmartphone-138" descr="preencoded.png">    </p:cNvPr>
          <p:cNvPicPr>
            <a:picLocks noChangeAspect="1"/>
          </p:cNvPicPr>
          <p:nvPr/>
        </p:nvPicPr>
        <p:blipFill>
          <a:blip r:embed="rId6"/>
          <a:stretch>
            <a:fillRect/>
          </a:stretch>
        </p:blipFill>
        <p:spPr>
          <a:xfrm>
            <a:off x="7527341" y="3869741"/>
            <a:ext cx="261518" cy="261518"/>
          </a:xfrm>
          <a:prstGeom prst="rect">
            <a:avLst/>
          </a:prstGeom>
        </p:spPr>
      </p:pic>
      <p:sp>
        <p:nvSpPr>
          <p:cNvPr id="38" name="texto-139"/>
          <p:cNvSpPr txBox="1"/>
          <p:nvPr/>
        </p:nvSpPr>
        <p:spPr>
          <a:xfrm>
            <a:off x="8092440" y="3721608"/>
            <a:ext cx="3139135"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Tablets</a:t>
            </a:r>
            <a:endParaRPr lang="en-US" sz="1600" dirty="0"/>
          </a:p>
          <a:p>
            <a:pPr indent="0" marL="0">
              <a:buNone/>
            </a:pPr>
            <a:r>
              <a:rPr lang="en-US" sz="1400" dirty="0">
                <a:solidFill>
                  <a:schemeClr val="accent6"/>
                </a:solidFill>
              </a:rPr>
              <a:t>iPad y Android, con la interfaz centrada.</a:t>
            </a:r>
            <a:endParaRPr lang="en-US" sz="1600" dirty="0"/>
          </a:p>
        </p:txBody>
      </p:sp>
      <p:sp>
        <p:nvSpPr>
          <p:cNvPr id="39" name="icono-fondo-140"/>
          <p:cNvSpPr/>
          <p:nvPr/>
        </p:nvSpPr>
        <p:spPr>
          <a:xfrm>
            <a:off x="7406640" y="4846320"/>
            <a:ext cx="502920" cy="502920"/>
          </a:xfrm>
          <a:prstGeom prst="roundRect">
            <a:avLst>
              <a:gd name="adj" fmla="val 26000"/>
            </a:avLst>
          </a:prstGeom>
          <a:solidFill>
            <a:schemeClr val="tx1"/>
          </a:solidFill>
          <a:ln/>
        </p:spPr>
      </p:sp>
      <p:pic>
        <p:nvPicPr>
          <p:cNvPr id="40" name="icono-LuLaptop-141" descr="preencoded.png">    </p:cNvPr>
          <p:cNvPicPr>
            <a:picLocks noChangeAspect="1"/>
          </p:cNvPicPr>
          <p:nvPr/>
        </p:nvPicPr>
        <p:blipFill>
          <a:blip r:embed="rId7"/>
          <a:stretch>
            <a:fillRect/>
          </a:stretch>
        </p:blipFill>
        <p:spPr>
          <a:xfrm>
            <a:off x="7527341" y="4967021"/>
            <a:ext cx="261518" cy="261518"/>
          </a:xfrm>
          <a:prstGeom prst="rect">
            <a:avLst/>
          </a:prstGeom>
        </p:spPr>
      </p:pic>
      <p:sp>
        <p:nvSpPr>
          <p:cNvPr id="41" name="texto-142"/>
          <p:cNvSpPr txBox="1"/>
          <p:nvPr/>
        </p:nvSpPr>
        <p:spPr>
          <a:xfrm>
            <a:off x="8092440" y="4818888"/>
            <a:ext cx="3139135" cy="96012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Computadora</a:t>
            </a:r>
            <a:endParaRPr lang="en-US" sz="1600" dirty="0"/>
          </a:p>
          <a:p>
            <a:pPr indent="0" marL="0">
              <a:buNone/>
            </a:pPr>
            <a:r>
              <a:rPr lang="en-US" sz="1400" dirty="0">
                <a:solidFill>
                  <a:schemeClr val="accent6"/>
                </a:solidFill>
              </a:rPr>
              <a:t>Extensión para Chrome 116 o superior, o la app para Windows y Mac (Intel y chip M).</a:t>
            </a:r>
            <a:endParaRPr lang="en-US" sz="16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NUEVO · APP DE ESCRITORIO</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Ahora también para Windows y Mac</a:t>
            </a:r>
            <a:endParaRPr lang="en-US" sz="3600" dirty="0"/>
          </a:p>
        </p:txBody>
      </p:sp>
      <p:sp>
        <p:nvSpPr>
          <p:cNvPr id="4" name="marco-143"/>
          <p:cNvSpPr/>
          <p:nvPr/>
        </p:nvSpPr>
        <p:spPr>
          <a:xfrm>
            <a:off x="640080" y="1783080"/>
            <a:ext cx="2377440" cy="4160520"/>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5" name="captura-144" descr="Panel de Presentazo en la computadora con el código QR">    </p:cNvPr>
          <p:cNvPicPr>
            <a:picLocks noChangeAspect="1"/>
          </p:cNvPicPr>
          <p:nvPr/>
        </p:nvPicPr>
        <p:blipFill>
          <a:blip r:embed="rId1"/>
          <a:stretch>
            <a:fillRect/>
          </a:stretch>
        </p:blipFill>
        <p:spPr>
          <a:xfrm>
            <a:off x="640080" y="1783080"/>
            <a:ext cx="2377440" cy="4160520"/>
          </a:xfrm>
          <a:prstGeom prst="rect">
            <a:avLst/>
          </a:prstGeom>
        </p:spPr>
      </p:pic>
      <p:sp>
        <p:nvSpPr>
          <p:cNvPr id="6" name="marco-145"/>
          <p:cNvSpPr/>
          <p:nvPr/>
        </p:nvSpPr>
        <p:spPr>
          <a:xfrm>
            <a:off x="3291840" y="1783080"/>
            <a:ext cx="2377440" cy="4160520"/>
          </a:xfrm>
          <a:prstGeom prst="rect">
            <a:avLst/>
          </a:prstGeom>
          <a:solidFill>
            <a:schemeClr val="bg1"/>
          </a:solidFill>
          <a:ln w="9525">
            <a:solidFill>
              <a:srgbClr val="E5E5EA"/>
            </a:solidFill>
            <a:prstDash val="solid"/>
          </a:ln>
          <a:effectLst>
            <a:outerShdw sx="100000" sy="100000" kx="0" ky="0" algn="bl" rotWithShape="0" blurRad="177800" dist="50800" dir="5400000">
              <a:srgbClr val="000000">
                <a:alpha val="18000"/>
              </a:srgbClr>
            </a:outerShdw>
          </a:effectLst>
        </p:spPr>
      </p:sp>
      <p:pic>
        <p:nvPicPr>
          <p:cNvPr id="7" name="captura-146" descr="Selector para elegir qué programa controlar">    </p:cNvPr>
          <p:cNvPicPr>
            <a:picLocks noChangeAspect="1"/>
          </p:cNvPicPr>
          <p:nvPr/>
        </p:nvPicPr>
        <p:blipFill>
          <a:blip r:embed="rId2"/>
          <a:stretch>
            <a:fillRect/>
          </a:stretch>
        </p:blipFill>
        <p:spPr>
          <a:xfrm>
            <a:off x="3291840" y="1783080"/>
            <a:ext cx="2377440" cy="4160520"/>
          </a:xfrm>
          <a:prstGeom prst="rect">
            <a:avLst/>
          </a:prstGeom>
        </p:spPr>
      </p:pic>
      <p:sp>
        <p:nvSpPr>
          <p:cNvPr id="8" name="escritorio-resumen"/>
          <p:cNvSpPr txBox="1"/>
          <p:nvPr/>
        </p:nvSpPr>
        <p:spPr>
          <a:xfrm>
            <a:off x="6172200" y="1783080"/>
            <a:ext cx="5379415" cy="777240"/>
          </a:xfrm>
          <a:prstGeom prst="rect">
            <a:avLst/>
          </a:prstGeom>
          <a:noFill/>
          <a:ln/>
        </p:spPr>
        <p:txBody>
          <a:bodyPr wrap="square" lIns="0" tIns="0" rIns="0" bIns="0" rtlCol="0" anchor="t"/>
          <a:lstStyle/>
          <a:p>
            <a:pPr indent="0" marL="0">
              <a:buNone/>
            </a:pPr>
            <a:r>
              <a:rPr lang="en-US" sz="1600" dirty="0">
                <a:solidFill>
                  <a:schemeClr val="tx1"/>
                </a:solidFill>
              </a:rPr>
              <a:t>Ya hay instaladores listos. La app controla PowerPoint, Keynote, un PDF o cualquier programa, no solo Chrome.</a:t>
            </a:r>
            <a:endParaRPr lang="en-US" sz="1600" dirty="0"/>
          </a:p>
        </p:txBody>
      </p:sp>
      <p:sp>
        <p:nvSpPr>
          <p:cNvPr id="9" name="tarjeta-147"/>
          <p:cNvSpPr/>
          <p:nvPr/>
        </p:nvSpPr>
        <p:spPr>
          <a:xfrm>
            <a:off x="6172200" y="2697480"/>
            <a:ext cx="5379415" cy="777240"/>
          </a:xfrm>
          <a:prstGeom prst="roundRect">
            <a:avLst>
              <a:gd name="adj" fmla="val 18824"/>
            </a:avLst>
          </a:prstGeom>
          <a:solidFill>
            <a:schemeClr val="bg2"/>
          </a:solidFill>
          <a:ln/>
        </p:spPr>
      </p:sp>
      <p:sp>
        <p:nvSpPr>
          <p:cNvPr id="10" name="icono-fondo-148"/>
          <p:cNvSpPr/>
          <p:nvPr/>
        </p:nvSpPr>
        <p:spPr>
          <a:xfrm>
            <a:off x="6355080" y="2834640"/>
            <a:ext cx="502920" cy="502920"/>
          </a:xfrm>
          <a:prstGeom prst="roundRect">
            <a:avLst>
              <a:gd name="adj" fmla="val 26000"/>
            </a:avLst>
          </a:prstGeom>
          <a:solidFill>
            <a:schemeClr val="accent1"/>
          </a:solidFill>
          <a:ln/>
        </p:spPr>
      </p:sp>
      <p:pic>
        <p:nvPicPr>
          <p:cNvPr id="11" name="icono-LuMonitor-149" descr="preencoded.png">    </p:cNvPr>
          <p:cNvPicPr>
            <a:picLocks noChangeAspect="1"/>
          </p:cNvPicPr>
          <p:nvPr/>
        </p:nvPicPr>
        <p:blipFill>
          <a:blip r:embed="rId3"/>
          <a:stretch>
            <a:fillRect/>
          </a:stretch>
        </p:blipFill>
        <p:spPr>
          <a:xfrm>
            <a:off x="6475781" y="2955341"/>
            <a:ext cx="261518" cy="261518"/>
          </a:xfrm>
          <a:prstGeom prst="rect">
            <a:avLst/>
          </a:prstGeom>
        </p:spPr>
      </p:pic>
      <p:sp>
        <p:nvSpPr>
          <p:cNvPr id="12" name="texto-150"/>
          <p:cNvSpPr txBox="1"/>
          <p:nvPr/>
        </p:nvSpPr>
        <p:spPr>
          <a:xfrm>
            <a:off x="7040880" y="2807208"/>
            <a:ext cx="4373575" cy="64008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Windows 10 y 11</a:t>
            </a:r>
            <a:endParaRPr lang="en-US" sz="1500" dirty="0"/>
          </a:p>
          <a:p>
            <a:pPr indent="0" marL="0">
              <a:buNone/>
            </a:pPr>
            <a:r>
              <a:rPr lang="en-US" sz="1300" dirty="0">
                <a:solidFill>
                  <a:schemeClr val="accent6"/>
                </a:solidFill>
              </a:rPr>
              <a:t>Instalador .exe y versión portable</a:t>
            </a:r>
            <a:endParaRPr lang="en-US" sz="1500" dirty="0"/>
          </a:p>
        </p:txBody>
      </p:sp>
      <p:sp>
        <p:nvSpPr>
          <p:cNvPr id="13" name="tarjeta-151"/>
          <p:cNvSpPr/>
          <p:nvPr/>
        </p:nvSpPr>
        <p:spPr>
          <a:xfrm>
            <a:off x="6172200" y="3611880"/>
            <a:ext cx="5379415" cy="777240"/>
          </a:xfrm>
          <a:prstGeom prst="roundRect">
            <a:avLst>
              <a:gd name="adj" fmla="val 18824"/>
            </a:avLst>
          </a:prstGeom>
          <a:solidFill>
            <a:schemeClr val="bg2"/>
          </a:solidFill>
          <a:ln/>
        </p:spPr>
      </p:sp>
      <p:sp>
        <p:nvSpPr>
          <p:cNvPr id="14" name="icono-fondo-152"/>
          <p:cNvSpPr/>
          <p:nvPr/>
        </p:nvSpPr>
        <p:spPr>
          <a:xfrm>
            <a:off x="6355080" y="3749040"/>
            <a:ext cx="502920" cy="502920"/>
          </a:xfrm>
          <a:prstGeom prst="roundRect">
            <a:avLst>
              <a:gd name="adj" fmla="val 26000"/>
            </a:avLst>
          </a:prstGeom>
          <a:solidFill>
            <a:schemeClr val="accent1"/>
          </a:solidFill>
          <a:ln/>
        </p:spPr>
      </p:sp>
      <p:pic>
        <p:nvPicPr>
          <p:cNvPr id="15" name="icono-LuLaptop-153" descr="preencoded.png">    </p:cNvPr>
          <p:cNvPicPr>
            <a:picLocks noChangeAspect="1"/>
          </p:cNvPicPr>
          <p:nvPr/>
        </p:nvPicPr>
        <p:blipFill>
          <a:blip r:embed="rId4"/>
          <a:stretch>
            <a:fillRect/>
          </a:stretch>
        </p:blipFill>
        <p:spPr>
          <a:xfrm>
            <a:off x="6475781" y="3869741"/>
            <a:ext cx="261518" cy="261518"/>
          </a:xfrm>
          <a:prstGeom prst="rect">
            <a:avLst/>
          </a:prstGeom>
        </p:spPr>
      </p:pic>
      <p:sp>
        <p:nvSpPr>
          <p:cNvPr id="16" name="texto-154"/>
          <p:cNvSpPr txBox="1"/>
          <p:nvPr/>
        </p:nvSpPr>
        <p:spPr>
          <a:xfrm>
            <a:off x="7040880" y="3721608"/>
            <a:ext cx="4373575" cy="64008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Mac con procesador Intel</a:t>
            </a:r>
            <a:endParaRPr lang="en-US" sz="1500" dirty="0"/>
          </a:p>
          <a:p>
            <a:pPr indent="0" marL="0">
              <a:buNone/>
            </a:pPr>
            <a:r>
              <a:rPr lang="en-US" sz="1300" dirty="0">
                <a:solidFill>
                  <a:schemeClr val="accent6"/>
                </a:solidFill>
              </a:rPr>
              <a:t>Instalador .dmg y versión .zip</a:t>
            </a:r>
            <a:endParaRPr lang="en-US" sz="1500" dirty="0"/>
          </a:p>
        </p:txBody>
      </p:sp>
      <p:sp>
        <p:nvSpPr>
          <p:cNvPr id="17" name="tarjeta-155"/>
          <p:cNvSpPr/>
          <p:nvPr/>
        </p:nvSpPr>
        <p:spPr>
          <a:xfrm>
            <a:off x="6172200" y="4526280"/>
            <a:ext cx="5379415" cy="777240"/>
          </a:xfrm>
          <a:prstGeom prst="roundRect">
            <a:avLst>
              <a:gd name="adj" fmla="val 18824"/>
            </a:avLst>
          </a:prstGeom>
          <a:solidFill>
            <a:schemeClr val="bg2"/>
          </a:solidFill>
          <a:ln/>
        </p:spPr>
      </p:sp>
      <p:sp>
        <p:nvSpPr>
          <p:cNvPr id="18" name="icono-fondo-156"/>
          <p:cNvSpPr/>
          <p:nvPr/>
        </p:nvSpPr>
        <p:spPr>
          <a:xfrm>
            <a:off x="6355080" y="4663440"/>
            <a:ext cx="502920" cy="502920"/>
          </a:xfrm>
          <a:prstGeom prst="roundRect">
            <a:avLst>
              <a:gd name="adj" fmla="val 26000"/>
            </a:avLst>
          </a:prstGeom>
          <a:solidFill>
            <a:schemeClr val="accent1"/>
          </a:solidFill>
          <a:ln/>
        </p:spPr>
      </p:sp>
      <p:pic>
        <p:nvPicPr>
          <p:cNvPr id="19" name="icono-LuCpu-157" descr="preencoded.png">    </p:cNvPr>
          <p:cNvPicPr>
            <a:picLocks noChangeAspect="1"/>
          </p:cNvPicPr>
          <p:nvPr/>
        </p:nvPicPr>
        <p:blipFill>
          <a:blip r:embed="rId5"/>
          <a:stretch>
            <a:fillRect/>
          </a:stretch>
        </p:blipFill>
        <p:spPr>
          <a:xfrm>
            <a:off x="6475781" y="4784141"/>
            <a:ext cx="261518" cy="261518"/>
          </a:xfrm>
          <a:prstGeom prst="rect">
            <a:avLst/>
          </a:prstGeom>
        </p:spPr>
      </p:pic>
      <p:sp>
        <p:nvSpPr>
          <p:cNvPr id="20" name="texto-158"/>
          <p:cNvSpPr txBox="1"/>
          <p:nvPr/>
        </p:nvSpPr>
        <p:spPr>
          <a:xfrm>
            <a:off x="7040880" y="4636008"/>
            <a:ext cx="4373575" cy="64008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Mac con chip M (M1, M2, M3, M4…)</a:t>
            </a:r>
            <a:endParaRPr lang="en-US" sz="1500" dirty="0"/>
          </a:p>
          <a:p>
            <a:pPr indent="0" marL="0">
              <a:buNone/>
            </a:pPr>
            <a:r>
              <a:rPr lang="en-US" sz="1300" dirty="0">
                <a:solidFill>
                  <a:schemeClr val="accent6"/>
                </a:solidFill>
              </a:rPr>
              <a:t>Instalador .dmg y versión .zip, nativa para el chip M</a:t>
            </a:r>
            <a:endParaRPr lang="en-US" sz="1500" dirty="0"/>
          </a:p>
        </p:txBody>
      </p:sp>
      <p:pic>
        <p:nvPicPr>
          <p:cNvPr id="21" name="escritorio-check" descr="preencoded.png">    </p:cNvPr>
          <p:cNvPicPr>
            <a:picLocks noChangeAspect="1"/>
          </p:cNvPicPr>
          <p:nvPr/>
        </p:nvPicPr>
        <p:blipFill>
          <a:blip r:embed="rId6"/>
          <a:stretch>
            <a:fillRect/>
          </a:stretch>
        </p:blipFill>
        <p:spPr>
          <a:xfrm>
            <a:off x="6172200" y="5550408"/>
            <a:ext cx="274320" cy="274320"/>
          </a:xfrm>
          <a:prstGeom prst="rect">
            <a:avLst/>
          </a:prstGeom>
        </p:spPr>
      </p:pic>
      <p:sp>
        <p:nvSpPr>
          <p:cNvPr id="22" name="escritorio-elegir"/>
          <p:cNvSpPr txBox="1"/>
          <p:nvPr/>
        </p:nvSpPr>
        <p:spPr>
          <a:xfrm>
            <a:off x="6556248" y="5458968"/>
            <a:ext cx="4995367" cy="457200"/>
          </a:xfrm>
          <a:prstGeom prst="rect">
            <a:avLst/>
          </a:prstGeom>
          <a:noFill/>
          <a:ln/>
        </p:spPr>
        <p:txBody>
          <a:bodyPr wrap="square" lIns="0" tIns="0" rIns="0" bIns="0" rtlCol="0" anchor="ctr"/>
          <a:lstStyle/>
          <a:p>
            <a:pPr indent="0" marL="0">
              <a:buNone/>
            </a:pPr>
            <a:r>
              <a:rPr lang="en-US" sz="1400" dirty="0">
                <a:solidFill>
                  <a:schemeClr val="accent6"/>
                </a:solidFill>
              </a:rPr>
              <a:t>Elige qué controlar: una pantalla, un programa o una pestaña del navegador.</a:t>
            </a:r>
            <a:endParaRPr lang="en-US" sz="14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CÓMO FUNCIONA</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Una conexión directa y cifrada</a:t>
            </a:r>
            <a:endParaRPr lang="en-US" sz="3600" dirty="0"/>
          </a:p>
        </p:txBody>
      </p:sp>
      <p:sp>
        <p:nvSpPr>
          <p:cNvPr id="4" name="tarjeta-159"/>
          <p:cNvSpPr/>
          <p:nvPr/>
        </p:nvSpPr>
        <p:spPr>
          <a:xfrm>
            <a:off x="4541368" y="1783080"/>
            <a:ext cx="3108960" cy="960120"/>
          </a:xfrm>
          <a:prstGeom prst="roundRect">
            <a:avLst>
              <a:gd name="adj" fmla="val 15238"/>
            </a:avLst>
          </a:prstGeom>
          <a:solidFill>
            <a:schemeClr val="bg2"/>
          </a:solidFill>
          <a:ln/>
        </p:spPr>
      </p:sp>
      <p:sp>
        <p:nvSpPr>
          <p:cNvPr id="5" name="icono-fondo-160"/>
          <p:cNvSpPr/>
          <p:nvPr/>
        </p:nvSpPr>
        <p:spPr>
          <a:xfrm>
            <a:off x="4769968" y="2002536"/>
            <a:ext cx="502920" cy="502920"/>
          </a:xfrm>
          <a:prstGeom prst="roundRect">
            <a:avLst>
              <a:gd name="adj" fmla="val 26000"/>
            </a:avLst>
          </a:prstGeom>
          <a:solidFill>
            <a:schemeClr val="accent6"/>
          </a:solidFill>
          <a:ln/>
        </p:spPr>
      </p:sp>
      <p:pic>
        <p:nvPicPr>
          <p:cNvPr id="6" name="icono-LuServer-161" descr="preencoded.png">    </p:cNvPr>
          <p:cNvPicPr>
            <a:picLocks noChangeAspect="1"/>
          </p:cNvPicPr>
          <p:nvPr/>
        </p:nvPicPr>
        <p:blipFill>
          <a:blip r:embed="rId1"/>
          <a:stretch>
            <a:fillRect/>
          </a:stretch>
        </p:blipFill>
        <p:spPr>
          <a:xfrm>
            <a:off x="4890668" y="2123237"/>
            <a:ext cx="261518" cy="261518"/>
          </a:xfrm>
          <a:prstGeom prst="rect">
            <a:avLst/>
          </a:prstGeom>
        </p:spPr>
      </p:pic>
      <p:sp>
        <p:nvSpPr>
          <p:cNvPr id="7" name="texto-162"/>
          <p:cNvSpPr txBox="1"/>
          <p:nvPr/>
        </p:nvSpPr>
        <p:spPr>
          <a:xfrm>
            <a:off x="5410048" y="1938528"/>
            <a:ext cx="2103120" cy="73152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Servidor de señalización</a:t>
            </a:r>
            <a:endParaRPr lang="en-US" sz="1500" dirty="0"/>
          </a:p>
          <a:p>
            <a:pPr indent="0" marL="0">
              <a:buNone/>
            </a:pPr>
            <a:r>
              <a:rPr lang="en-US" sz="1300" dirty="0">
                <a:solidFill>
                  <a:schemeClr val="accent6"/>
                </a:solidFill>
              </a:rPr>
              <a:t>Solo para el enlace inicial</a:t>
            </a:r>
            <a:endParaRPr lang="en-US" sz="1500" dirty="0"/>
          </a:p>
        </p:txBody>
      </p:sp>
      <p:sp>
        <p:nvSpPr>
          <p:cNvPr id="8" name="senal-izq"/>
          <p:cNvSpPr/>
          <p:nvPr/>
        </p:nvSpPr>
        <p:spPr>
          <a:xfrm>
            <a:off x="3474720" y="2263140"/>
            <a:ext cx="1066648" cy="0"/>
          </a:xfrm>
          <a:prstGeom prst="line">
            <a:avLst/>
          </a:prstGeom>
          <a:noFill/>
          <a:ln w="19050">
            <a:solidFill>
              <a:srgbClr val="8E8E93"/>
            </a:solidFill>
            <a:prstDash val="dash"/>
          </a:ln>
        </p:spPr>
      </p:sp>
      <p:sp>
        <p:nvSpPr>
          <p:cNvPr id="9" name="senal-izq-v"/>
          <p:cNvSpPr/>
          <p:nvPr/>
        </p:nvSpPr>
        <p:spPr>
          <a:xfrm>
            <a:off x="3474720" y="2263140"/>
            <a:ext cx="0" cy="708660"/>
          </a:xfrm>
          <a:prstGeom prst="line">
            <a:avLst/>
          </a:prstGeom>
          <a:noFill/>
          <a:ln w="19050">
            <a:solidFill>
              <a:srgbClr val="8E8E93"/>
            </a:solidFill>
            <a:prstDash val="dash"/>
          </a:ln>
        </p:spPr>
      </p:sp>
      <p:sp>
        <p:nvSpPr>
          <p:cNvPr id="10" name="senal-der"/>
          <p:cNvSpPr/>
          <p:nvPr/>
        </p:nvSpPr>
        <p:spPr>
          <a:xfrm>
            <a:off x="7650328" y="2263140"/>
            <a:ext cx="1066648" cy="0"/>
          </a:xfrm>
          <a:prstGeom prst="line">
            <a:avLst/>
          </a:prstGeom>
          <a:noFill/>
          <a:ln w="19050">
            <a:solidFill>
              <a:srgbClr val="8E8E93"/>
            </a:solidFill>
            <a:prstDash val="dash"/>
          </a:ln>
        </p:spPr>
      </p:sp>
      <p:sp>
        <p:nvSpPr>
          <p:cNvPr id="11" name="senal-der-v"/>
          <p:cNvSpPr/>
          <p:nvPr/>
        </p:nvSpPr>
        <p:spPr>
          <a:xfrm>
            <a:off x="8716975" y="2263140"/>
            <a:ext cx="0" cy="708660"/>
          </a:xfrm>
          <a:prstGeom prst="line">
            <a:avLst/>
          </a:prstGeom>
          <a:noFill/>
          <a:ln w="19050">
            <a:solidFill>
              <a:srgbClr val="8E8E93"/>
            </a:solidFill>
            <a:prstDash val="dash"/>
          </a:ln>
        </p:spPr>
      </p:sp>
      <p:sp>
        <p:nvSpPr>
          <p:cNvPr id="12" name="tarjeta-163"/>
          <p:cNvSpPr/>
          <p:nvPr/>
        </p:nvSpPr>
        <p:spPr>
          <a:xfrm>
            <a:off x="822960" y="2971800"/>
            <a:ext cx="3017520" cy="1600200"/>
          </a:xfrm>
          <a:prstGeom prst="roundRect">
            <a:avLst>
              <a:gd name="adj" fmla="val 9143"/>
            </a:avLst>
          </a:prstGeom>
          <a:solidFill>
            <a:schemeClr val="bg2"/>
          </a:solidFill>
          <a:ln/>
        </p:spPr>
      </p:sp>
      <p:sp>
        <p:nvSpPr>
          <p:cNvPr id="13" name="icono-fondo-164"/>
          <p:cNvSpPr/>
          <p:nvPr/>
        </p:nvSpPr>
        <p:spPr>
          <a:xfrm>
            <a:off x="1097280" y="3246120"/>
            <a:ext cx="566928" cy="566928"/>
          </a:xfrm>
          <a:prstGeom prst="roundRect">
            <a:avLst>
              <a:gd name="adj" fmla="val 26000"/>
            </a:avLst>
          </a:prstGeom>
          <a:solidFill>
            <a:schemeClr val="tx1"/>
          </a:solidFill>
          <a:ln/>
        </p:spPr>
      </p:sp>
      <p:pic>
        <p:nvPicPr>
          <p:cNvPr id="14" name="icono-LuSmartphone-165" descr="preencoded.png">    </p:cNvPr>
          <p:cNvPicPr>
            <a:picLocks noChangeAspect="1"/>
          </p:cNvPicPr>
          <p:nvPr/>
        </p:nvPicPr>
        <p:blipFill>
          <a:blip r:embed="rId2"/>
          <a:stretch>
            <a:fillRect/>
          </a:stretch>
        </p:blipFill>
        <p:spPr>
          <a:xfrm>
            <a:off x="1233343" y="3382183"/>
            <a:ext cx="294803" cy="294803"/>
          </a:xfrm>
          <a:prstGeom prst="rect">
            <a:avLst/>
          </a:prstGeom>
        </p:spPr>
      </p:pic>
      <p:sp>
        <p:nvSpPr>
          <p:cNvPr id="15" name="texto-166"/>
          <p:cNvSpPr txBox="1"/>
          <p:nvPr/>
        </p:nvSpPr>
        <p:spPr>
          <a:xfrm>
            <a:off x="1828800" y="3227832"/>
            <a:ext cx="1783080" cy="12344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Celular</a:t>
            </a:r>
            <a:endParaRPr lang="en-US" sz="1700" dirty="0"/>
          </a:p>
          <a:p>
            <a:pPr indent="0" marL="0">
              <a:buNone/>
            </a:pPr>
            <a:r>
              <a:rPr lang="en-US" sz="1400" dirty="0">
                <a:solidFill>
                  <a:schemeClr val="accent6"/>
                </a:solidFill>
              </a:rPr>
              <a:t>Control web en el navegador, sin instalar apps.</a:t>
            </a:r>
            <a:endParaRPr lang="en-US" sz="1700" dirty="0"/>
          </a:p>
        </p:txBody>
      </p:sp>
      <p:sp>
        <p:nvSpPr>
          <p:cNvPr id="16" name="tarjeta-167"/>
          <p:cNvSpPr/>
          <p:nvPr/>
        </p:nvSpPr>
        <p:spPr>
          <a:xfrm>
            <a:off x="8351215" y="2971800"/>
            <a:ext cx="3017520" cy="1600200"/>
          </a:xfrm>
          <a:prstGeom prst="roundRect">
            <a:avLst>
              <a:gd name="adj" fmla="val 9143"/>
            </a:avLst>
          </a:prstGeom>
          <a:solidFill>
            <a:schemeClr val="bg2"/>
          </a:solidFill>
          <a:ln/>
        </p:spPr>
      </p:sp>
      <p:sp>
        <p:nvSpPr>
          <p:cNvPr id="17" name="icono-fondo-168"/>
          <p:cNvSpPr/>
          <p:nvPr/>
        </p:nvSpPr>
        <p:spPr>
          <a:xfrm>
            <a:off x="8625535" y="3246120"/>
            <a:ext cx="566928" cy="566928"/>
          </a:xfrm>
          <a:prstGeom prst="roundRect">
            <a:avLst>
              <a:gd name="adj" fmla="val 26000"/>
            </a:avLst>
          </a:prstGeom>
          <a:solidFill>
            <a:schemeClr val="tx1"/>
          </a:solidFill>
          <a:ln/>
        </p:spPr>
      </p:sp>
      <p:pic>
        <p:nvPicPr>
          <p:cNvPr id="18" name="icono-LuLaptop-169" descr="preencoded.png">    </p:cNvPr>
          <p:cNvPicPr>
            <a:picLocks noChangeAspect="1"/>
          </p:cNvPicPr>
          <p:nvPr/>
        </p:nvPicPr>
        <p:blipFill>
          <a:blip r:embed="rId3"/>
          <a:stretch>
            <a:fillRect/>
          </a:stretch>
        </p:blipFill>
        <p:spPr>
          <a:xfrm>
            <a:off x="8761598" y="3382183"/>
            <a:ext cx="294803" cy="294803"/>
          </a:xfrm>
          <a:prstGeom prst="rect">
            <a:avLst/>
          </a:prstGeom>
        </p:spPr>
      </p:pic>
      <p:sp>
        <p:nvSpPr>
          <p:cNvPr id="19" name="texto-170"/>
          <p:cNvSpPr txBox="1"/>
          <p:nvPr/>
        </p:nvSpPr>
        <p:spPr>
          <a:xfrm>
            <a:off x="9357055" y="3227832"/>
            <a:ext cx="1783080" cy="123444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Computadora</a:t>
            </a:r>
            <a:endParaRPr lang="en-US" sz="1700" dirty="0"/>
          </a:p>
          <a:p>
            <a:pPr indent="0" marL="0">
              <a:buNone/>
            </a:pPr>
            <a:r>
              <a:rPr lang="en-US" sz="1400" dirty="0">
                <a:solidFill>
                  <a:schemeClr val="accent6"/>
                </a:solidFill>
              </a:rPr>
              <a:t>Google Chrome con la extensión Presentazo.</a:t>
            </a:r>
            <a:endParaRPr lang="en-US" sz="1700" dirty="0"/>
          </a:p>
        </p:txBody>
      </p:sp>
      <p:sp>
        <p:nvSpPr>
          <p:cNvPr id="20" name="enlace-directo"/>
          <p:cNvSpPr/>
          <p:nvPr/>
        </p:nvSpPr>
        <p:spPr>
          <a:xfrm>
            <a:off x="3977640" y="3771900"/>
            <a:ext cx="4236415" cy="0"/>
          </a:xfrm>
          <a:prstGeom prst="line">
            <a:avLst/>
          </a:prstGeom>
          <a:noFill/>
          <a:ln w="38100">
            <a:solidFill>
              <a:srgbClr val="FF3B30"/>
            </a:solidFill>
            <a:prstDash val="solid"/>
            <a:headEnd type="triangle"/>
            <a:tailEnd type="triangle"/>
          </a:ln>
        </p:spPr>
      </p:sp>
      <p:sp>
        <p:nvSpPr>
          <p:cNvPr id="21" name="enlace-texto"/>
          <p:cNvSpPr txBox="1"/>
          <p:nvPr/>
        </p:nvSpPr>
        <p:spPr>
          <a:xfrm>
            <a:off x="4114800" y="3881628"/>
            <a:ext cx="3962095" cy="640080"/>
          </a:xfrm>
          <a:prstGeom prst="rect">
            <a:avLst/>
          </a:prstGeom>
          <a:noFill/>
          <a:ln/>
        </p:spPr>
        <p:txBody>
          <a:bodyPr wrap="square" lIns="0" tIns="0" rIns="0" bIns="0" rtlCol="0" anchor="t"/>
          <a:lstStyle/>
          <a:p>
            <a:pPr algn="ctr" indent="0" marL="0">
              <a:buNone/>
            </a:pPr>
            <a:r>
              <a:rPr lang="en-US" sz="1500" b="1" dirty="0">
                <a:solidFill>
                  <a:schemeClr val="tx1"/>
                </a:solidFill>
              </a:rPr>
              <a:t>WebRTC cifrado de punto a punto</a:t>
            </a:r>
            <a:endParaRPr lang="en-US" sz="1500" dirty="0"/>
          </a:p>
          <a:p>
            <a:pPr algn="ctr" indent="0" marL="0">
              <a:buNone/>
            </a:pPr>
            <a:r>
              <a:rPr lang="en-US" sz="1300" dirty="0">
                <a:solidFill>
                  <a:schemeClr val="accent6"/>
                </a:solidFill>
              </a:rPr>
              <a:t>Si la red lo bloquea, pasa cifrado por Cloudflare</a:t>
            </a:r>
            <a:endParaRPr lang="en-US" sz="1500" dirty="0"/>
          </a:p>
        </p:txBody>
      </p:sp>
      <p:sp>
        <p:nvSpPr>
          <p:cNvPr id="22" name="paso-171"/>
          <p:cNvSpPr/>
          <p:nvPr/>
        </p:nvSpPr>
        <p:spPr>
          <a:xfrm>
            <a:off x="640080" y="5257800"/>
            <a:ext cx="411480" cy="411480"/>
          </a:xfrm>
          <a:prstGeom prst="ellipse">
            <a:avLst/>
          </a:prstGeom>
          <a:solidFill>
            <a:schemeClr val="accent1"/>
          </a:solidFill>
          <a:ln/>
        </p:spPr>
      </p:sp>
      <p:sp>
        <p:nvSpPr>
          <p:cNvPr id="23" name="paso-n-172"/>
          <p:cNvSpPr txBox="1"/>
          <p:nvPr/>
        </p:nvSpPr>
        <p:spPr>
          <a:xfrm>
            <a:off x="640080" y="52578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24" name="paso-texto-173"/>
          <p:cNvSpPr txBox="1"/>
          <p:nvPr/>
        </p:nvSpPr>
        <p:spPr>
          <a:xfrm>
            <a:off x="1188720" y="5230368"/>
            <a:ext cx="2881274" cy="777240"/>
          </a:xfrm>
          <a:prstGeom prst="rect">
            <a:avLst/>
          </a:prstGeom>
          <a:noFill/>
          <a:ln/>
        </p:spPr>
        <p:txBody>
          <a:bodyPr wrap="square" lIns="0" tIns="0" rIns="0" bIns="0" rtlCol="0" anchor="t"/>
          <a:lstStyle/>
          <a:p>
            <a:pPr indent="0" marL="0">
              <a:buNone/>
            </a:pPr>
            <a:r>
              <a:rPr lang="en-US" sz="1400" dirty="0">
                <a:solidFill>
                  <a:schemeClr val="tx1"/>
                </a:solidFill>
              </a:rPr>
              <a:t>El QR lleva un identificador y una clave secreta.</a:t>
            </a:r>
            <a:endParaRPr lang="en-US" sz="1400" dirty="0"/>
          </a:p>
        </p:txBody>
      </p:sp>
      <p:sp>
        <p:nvSpPr>
          <p:cNvPr id="25" name="paso-174"/>
          <p:cNvSpPr/>
          <p:nvPr/>
        </p:nvSpPr>
        <p:spPr>
          <a:xfrm>
            <a:off x="4380890" y="5257800"/>
            <a:ext cx="411480" cy="411480"/>
          </a:xfrm>
          <a:prstGeom prst="ellipse">
            <a:avLst/>
          </a:prstGeom>
          <a:solidFill>
            <a:schemeClr val="accent1"/>
          </a:solidFill>
          <a:ln/>
        </p:spPr>
      </p:sp>
      <p:sp>
        <p:nvSpPr>
          <p:cNvPr id="26" name="paso-n-175"/>
          <p:cNvSpPr txBox="1"/>
          <p:nvPr/>
        </p:nvSpPr>
        <p:spPr>
          <a:xfrm>
            <a:off x="4380890" y="52578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27" name="paso-texto-176"/>
          <p:cNvSpPr txBox="1"/>
          <p:nvPr/>
        </p:nvSpPr>
        <p:spPr>
          <a:xfrm>
            <a:off x="4929530" y="5230368"/>
            <a:ext cx="2881274" cy="777240"/>
          </a:xfrm>
          <a:prstGeom prst="rect">
            <a:avLst/>
          </a:prstGeom>
          <a:noFill/>
          <a:ln/>
        </p:spPr>
        <p:txBody>
          <a:bodyPr wrap="square" lIns="0" tIns="0" rIns="0" bIns="0" rtlCol="0" anchor="t"/>
          <a:lstStyle/>
          <a:p>
            <a:pPr indent="0" marL="0">
              <a:buNone/>
            </a:pPr>
            <a:r>
              <a:rPr lang="en-US" sz="1400" dirty="0">
                <a:solidFill>
                  <a:schemeClr val="tx1"/>
                </a:solidFill>
              </a:rPr>
              <a:t>El servidor presenta a los dos dispositivos.</a:t>
            </a:r>
            <a:endParaRPr lang="en-US" sz="1400" dirty="0"/>
          </a:p>
        </p:txBody>
      </p:sp>
      <p:sp>
        <p:nvSpPr>
          <p:cNvPr id="28" name="paso-177"/>
          <p:cNvSpPr/>
          <p:nvPr/>
        </p:nvSpPr>
        <p:spPr>
          <a:xfrm>
            <a:off x="8121701" y="5257800"/>
            <a:ext cx="411480" cy="411480"/>
          </a:xfrm>
          <a:prstGeom prst="ellipse">
            <a:avLst/>
          </a:prstGeom>
          <a:solidFill>
            <a:schemeClr val="accent1"/>
          </a:solidFill>
          <a:ln/>
        </p:spPr>
      </p:sp>
      <p:sp>
        <p:nvSpPr>
          <p:cNvPr id="29" name="paso-n-178"/>
          <p:cNvSpPr txBox="1"/>
          <p:nvPr/>
        </p:nvSpPr>
        <p:spPr>
          <a:xfrm>
            <a:off x="8121701" y="5257800"/>
            <a:ext cx="411480" cy="41148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30" name="paso-texto-179"/>
          <p:cNvSpPr txBox="1"/>
          <p:nvPr/>
        </p:nvSpPr>
        <p:spPr>
          <a:xfrm>
            <a:off x="8670341" y="5230368"/>
            <a:ext cx="2881274" cy="777240"/>
          </a:xfrm>
          <a:prstGeom prst="rect">
            <a:avLst/>
          </a:prstGeom>
          <a:noFill/>
          <a:ln/>
        </p:spPr>
        <p:txBody>
          <a:bodyPr wrap="square" lIns="0" tIns="0" rIns="0" bIns="0" rtlCol="0" anchor="t"/>
          <a:lstStyle/>
          <a:p>
            <a:pPr indent="0" marL="0">
              <a:buNone/>
            </a:pPr>
            <a:r>
              <a:rPr lang="en-US" sz="1400" dirty="0">
                <a:solidFill>
                  <a:schemeClr val="tx1"/>
                </a:solidFill>
              </a:rPr>
              <a:t>Los comandos viajan directo y cifrados.</a:t>
            </a:r>
            <a:endParaRPr lang="en-US" sz="14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SEGURIDAD Y PRIVACIDAD</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bg1"/>
                </a:solidFill>
              </a:rPr>
              <a:t>Tus presentaciones siguen siendo tuyas</a:t>
            </a:r>
            <a:endParaRPr lang="en-US" sz="3600" dirty="0"/>
          </a:p>
        </p:txBody>
      </p:sp>
      <p:sp>
        <p:nvSpPr>
          <p:cNvPr id="4" name="icono-fondo-180"/>
          <p:cNvSpPr/>
          <p:nvPr/>
        </p:nvSpPr>
        <p:spPr>
          <a:xfrm>
            <a:off x="640080" y="1828800"/>
            <a:ext cx="566928" cy="566928"/>
          </a:xfrm>
          <a:prstGeom prst="roundRect">
            <a:avLst>
              <a:gd name="adj" fmla="val 26000"/>
            </a:avLst>
          </a:prstGeom>
          <a:solidFill>
            <a:schemeClr val="tx2"/>
          </a:solidFill>
          <a:ln/>
        </p:spPr>
      </p:sp>
      <p:pic>
        <p:nvPicPr>
          <p:cNvPr id="5" name="icono-LuLock-181" descr="preencoded.png">    </p:cNvPr>
          <p:cNvPicPr>
            <a:picLocks noChangeAspect="1"/>
          </p:cNvPicPr>
          <p:nvPr/>
        </p:nvPicPr>
        <p:blipFill>
          <a:blip r:embed="rId1"/>
          <a:stretch>
            <a:fillRect/>
          </a:stretch>
        </p:blipFill>
        <p:spPr>
          <a:xfrm>
            <a:off x="776143" y="1964863"/>
            <a:ext cx="294803" cy="294803"/>
          </a:xfrm>
          <a:prstGeom prst="rect">
            <a:avLst/>
          </a:prstGeom>
        </p:spPr>
      </p:pic>
      <p:sp>
        <p:nvSpPr>
          <p:cNvPr id="6" name="texto-182"/>
          <p:cNvSpPr txBox="1"/>
          <p:nvPr/>
        </p:nvSpPr>
        <p:spPr>
          <a:xfrm>
            <a:off x="1463040" y="18013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Cifrado de extremo a extremo</a:t>
            </a:r>
            <a:endParaRPr lang="en-US" sz="1700" dirty="0"/>
          </a:p>
          <a:p>
            <a:pPr indent="0" marL="0">
              <a:buNone/>
            </a:pPr>
            <a:r>
              <a:rPr lang="en-US" sz="1400" dirty="0">
                <a:solidFill>
                  <a:schemeClr val="accent5"/>
                </a:solidFill>
              </a:rPr>
              <a:t>Los comandos viajan cifrados directamente entre tus dispositivos.</a:t>
            </a:r>
            <a:endParaRPr lang="en-US" sz="1700" dirty="0"/>
          </a:p>
        </p:txBody>
      </p:sp>
      <p:sp>
        <p:nvSpPr>
          <p:cNvPr id="7" name="icono-fondo-183"/>
          <p:cNvSpPr/>
          <p:nvPr/>
        </p:nvSpPr>
        <p:spPr>
          <a:xfrm>
            <a:off x="6370168" y="1828800"/>
            <a:ext cx="566928" cy="566928"/>
          </a:xfrm>
          <a:prstGeom prst="roundRect">
            <a:avLst>
              <a:gd name="adj" fmla="val 26000"/>
            </a:avLst>
          </a:prstGeom>
          <a:solidFill>
            <a:schemeClr val="tx2"/>
          </a:solidFill>
          <a:ln/>
        </p:spPr>
      </p:sp>
      <p:pic>
        <p:nvPicPr>
          <p:cNvPr id="8" name="icono-LuMousePointerClick-184" descr="preencoded.png">    </p:cNvPr>
          <p:cNvPicPr>
            <a:picLocks noChangeAspect="1"/>
          </p:cNvPicPr>
          <p:nvPr/>
        </p:nvPicPr>
        <p:blipFill>
          <a:blip r:embed="rId2"/>
          <a:stretch>
            <a:fillRect/>
          </a:stretch>
        </p:blipFill>
        <p:spPr>
          <a:xfrm>
            <a:off x="6506230" y="1964863"/>
            <a:ext cx="294803" cy="294803"/>
          </a:xfrm>
          <a:prstGeom prst="rect">
            <a:avLst/>
          </a:prstGeom>
        </p:spPr>
      </p:pic>
      <p:sp>
        <p:nvSpPr>
          <p:cNvPr id="9" name="texto-185"/>
          <p:cNvSpPr txBox="1"/>
          <p:nvPr/>
        </p:nvSpPr>
        <p:spPr>
          <a:xfrm>
            <a:off x="7193128" y="18013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Solo la pestaña que eliges</a:t>
            </a:r>
            <a:endParaRPr lang="en-US" sz="1700" dirty="0"/>
          </a:p>
          <a:p>
            <a:pPr indent="0" marL="0">
              <a:buNone/>
            </a:pPr>
            <a:r>
              <a:rPr lang="en-US" sz="1400" dirty="0">
                <a:solidFill>
                  <a:schemeClr val="accent5"/>
                </a:solidFill>
              </a:rPr>
              <a:t>Actúa únicamente donde pulsas su ícono; no pide acceso a todos tus sitios.</a:t>
            </a:r>
            <a:endParaRPr lang="en-US" sz="1700" dirty="0"/>
          </a:p>
        </p:txBody>
      </p:sp>
      <p:sp>
        <p:nvSpPr>
          <p:cNvPr id="10" name="icono-fondo-186"/>
          <p:cNvSpPr/>
          <p:nvPr/>
        </p:nvSpPr>
        <p:spPr>
          <a:xfrm>
            <a:off x="640080" y="3200400"/>
            <a:ext cx="566928" cy="566928"/>
          </a:xfrm>
          <a:prstGeom prst="roundRect">
            <a:avLst>
              <a:gd name="adj" fmla="val 26000"/>
            </a:avLst>
          </a:prstGeom>
          <a:solidFill>
            <a:schemeClr val="tx2"/>
          </a:solidFill>
          <a:ln/>
        </p:spPr>
      </p:sp>
      <p:pic>
        <p:nvPicPr>
          <p:cNvPr id="11" name="icono-LuKeyRound-187" descr="preencoded.png">    </p:cNvPr>
          <p:cNvPicPr>
            <a:picLocks noChangeAspect="1"/>
          </p:cNvPicPr>
          <p:nvPr/>
        </p:nvPicPr>
        <p:blipFill>
          <a:blip r:embed="rId3"/>
          <a:stretch>
            <a:fillRect/>
          </a:stretch>
        </p:blipFill>
        <p:spPr>
          <a:xfrm>
            <a:off x="776143" y="3336463"/>
            <a:ext cx="294803" cy="294803"/>
          </a:xfrm>
          <a:prstGeom prst="rect">
            <a:avLst/>
          </a:prstGeom>
        </p:spPr>
      </p:pic>
      <p:sp>
        <p:nvSpPr>
          <p:cNvPr id="12" name="texto-188"/>
          <p:cNvSpPr txBox="1"/>
          <p:nvPr/>
        </p:nvSpPr>
        <p:spPr>
          <a:xfrm>
            <a:off x="1463040" y="31729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La clave nunca sale del QR</a:t>
            </a:r>
            <a:endParaRPr lang="en-US" sz="1700" dirty="0"/>
          </a:p>
          <a:p>
            <a:pPr indent="0" marL="0">
              <a:buNone/>
            </a:pPr>
            <a:r>
              <a:rPr lang="en-US" sz="1400" dirty="0">
                <a:solidFill>
                  <a:schemeClr val="accent5"/>
                </a:solidFill>
              </a:rPr>
              <a:t>Va en una parte de la dirección que el navegador no envía.</a:t>
            </a:r>
            <a:endParaRPr lang="en-US" sz="1700" dirty="0"/>
          </a:p>
        </p:txBody>
      </p:sp>
      <p:sp>
        <p:nvSpPr>
          <p:cNvPr id="13" name="icono-fondo-189"/>
          <p:cNvSpPr/>
          <p:nvPr/>
        </p:nvSpPr>
        <p:spPr>
          <a:xfrm>
            <a:off x="6370168" y="3200400"/>
            <a:ext cx="566928" cy="566928"/>
          </a:xfrm>
          <a:prstGeom prst="roundRect">
            <a:avLst>
              <a:gd name="adj" fmla="val 26000"/>
            </a:avLst>
          </a:prstGeom>
          <a:solidFill>
            <a:schemeClr val="tx2"/>
          </a:solidFill>
          <a:ln/>
        </p:spPr>
      </p:sp>
      <p:pic>
        <p:nvPicPr>
          <p:cNvPr id="14" name="icono-LuEyeOff-190" descr="preencoded.png">    </p:cNvPr>
          <p:cNvPicPr>
            <a:picLocks noChangeAspect="1"/>
          </p:cNvPicPr>
          <p:nvPr/>
        </p:nvPicPr>
        <p:blipFill>
          <a:blip r:embed="rId4"/>
          <a:stretch>
            <a:fillRect/>
          </a:stretch>
        </p:blipFill>
        <p:spPr>
          <a:xfrm>
            <a:off x="6506230" y="3336463"/>
            <a:ext cx="294803" cy="294803"/>
          </a:xfrm>
          <a:prstGeom prst="rect">
            <a:avLst/>
          </a:prstGeom>
        </p:spPr>
      </p:pic>
      <p:sp>
        <p:nvSpPr>
          <p:cNvPr id="15" name="texto-191"/>
          <p:cNvSpPr txBox="1"/>
          <p:nvPr/>
        </p:nvSpPr>
        <p:spPr>
          <a:xfrm>
            <a:off x="7193128" y="31729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Sin cuentas ni datos</a:t>
            </a:r>
            <a:endParaRPr lang="en-US" sz="1700" dirty="0"/>
          </a:p>
          <a:p>
            <a:pPr indent="0" marL="0">
              <a:buNone/>
            </a:pPr>
            <a:r>
              <a:rPr lang="en-US" sz="1400" dirty="0">
                <a:solidFill>
                  <a:schemeClr val="accent5"/>
                </a:solidFill>
              </a:rPr>
              <a:t>No hay registro, anuncios, analítica ni base de datos.</a:t>
            </a:r>
            <a:endParaRPr lang="en-US" sz="1700" dirty="0"/>
          </a:p>
        </p:txBody>
      </p:sp>
      <p:sp>
        <p:nvSpPr>
          <p:cNvPr id="16" name="icono-fondo-192"/>
          <p:cNvSpPr/>
          <p:nvPr/>
        </p:nvSpPr>
        <p:spPr>
          <a:xfrm>
            <a:off x="640080" y="4572000"/>
            <a:ext cx="566928" cy="566928"/>
          </a:xfrm>
          <a:prstGeom prst="roundRect">
            <a:avLst>
              <a:gd name="adj" fmla="val 26000"/>
            </a:avLst>
          </a:prstGeom>
          <a:solidFill>
            <a:schemeClr val="tx2"/>
          </a:solidFill>
          <a:ln/>
        </p:spPr>
      </p:sp>
      <p:pic>
        <p:nvPicPr>
          <p:cNvPr id="17" name="icono-LuRefreshCw-193" descr="preencoded.png">    </p:cNvPr>
          <p:cNvPicPr>
            <a:picLocks noChangeAspect="1"/>
          </p:cNvPicPr>
          <p:nvPr/>
        </p:nvPicPr>
        <p:blipFill>
          <a:blip r:embed="rId5"/>
          <a:stretch>
            <a:fillRect/>
          </a:stretch>
        </p:blipFill>
        <p:spPr>
          <a:xfrm>
            <a:off x="776143" y="4708063"/>
            <a:ext cx="294803" cy="294803"/>
          </a:xfrm>
          <a:prstGeom prst="rect">
            <a:avLst/>
          </a:prstGeom>
        </p:spPr>
      </p:pic>
      <p:sp>
        <p:nvSpPr>
          <p:cNvPr id="18" name="texto-194"/>
          <p:cNvSpPr txBox="1"/>
          <p:nvPr/>
        </p:nvSpPr>
        <p:spPr>
          <a:xfrm>
            <a:off x="1463040" y="45445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Código nuevo en cada sesión</a:t>
            </a:r>
            <a:endParaRPr lang="en-US" sz="1700" dirty="0"/>
          </a:p>
          <a:p>
            <a:pPr indent="0" marL="0">
              <a:buNone/>
            </a:pPr>
            <a:r>
              <a:rPr lang="en-US" sz="1400" dirty="0">
                <a:solidFill>
                  <a:schemeClr val="accent5"/>
                </a:solidFill>
              </a:rPr>
              <a:t>El QR cambia en cada sesión y puedes renovarlo cuando quieras.</a:t>
            </a:r>
            <a:endParaRPr lang="en-US" sz="1700" dirty="0"/>
          </a:p>
        </p:txBody>
      </p:sp>
      <p:sp>
        <p:nvSpPr>
          <p:cNvPr id="19" name="icono-fondo-195"/>
          <p:cNvSpPr/>
          <p:nvPr/>
        </p:nvSpPr>
        <p:spPr>
          <a:xfrm>
            <a:off x="6370168" y="4572000"/>
            <a:ext cx="566928" cy="566928"/>
          </a:xfrm>
          <a:prstGeom prst="roundRect">
            <a:avLst>
              <a:gd name="adj" fmla="val 26000"/>
            </a:avLst>
          </a:prstGeom>
          <a:solidFill>
            <a:schemeClr val="tx2"/>
          </a:solidFill>
          <a:ln/>
        </p:spPr>
      </p:sp>
      <p:pic>
        <p:nvPicPr>
          <p:cNvPr id="20" name="icono-LuGithub-196" descr="preencoded.png">    </p:cNvPr>
          <p:cNvPicPr>
            <a:picLocks noChangeAspect="1"/>
          </p:cNvPicPr>
          <p:nvPr/>
        </p:nvPicPr>
        <p:blipFill>
          <a:blip r:embed="rId6"/>
          <a:stretch>
            <a:fillRect/>
          </a:stretch>
        </p:blipFill>
        <p:spPr>
          <a:xfrm>
            <a:off x="6506230" y="4708063"/>
            <a:ext cx="294803" cy="294803"/>
          </a:xfrm>
          <a:prstGeom prst="rect">
            <a:avLst/>
          </a:prstGeom>
        </p:spPr>
      </p:pic>
      <p:sp>
        <p:nvSpPr>
          <p:cNvPr id="21" name="texto-197"/>
          <p:cNvSpPr txBox="1"/>
          <p:nvPr/>
        </p:nvSpPr>
        <p:spPr>
          <a:xfrm>
            <a:off x="7193128" y="4544568"/>
            <a:ext cx="4358488" cy="1097280"/>
          </a:xfrm>
          <a:prstGeom prst="rect">
            <a:avLst/>
          </a:prstGeom>
          <a:noFill/>
          <a:ln/>
        </p:spPr>
        <p:txBody>
          <a:bodyPr wrap="square" lIns="0" tIns="0" rIns="0" bIns="0" rtlCol="0" anchor="t"/>
          <a:lstStyle/>
          <a:p>
            <a:pPr indent="0" marL="0">
              <a:spcAft>
                <a:spcPts val="300"/>
              </a:spcAft>
              <a:buNone/>
            </a:pPr>
            <a:r>
              <a:rPr lang="en-US" sz="1700" b="1" dirty="0">
                <a:solidFill>
                  <a:schemeClr val="bg1"/>
                </a:solidFill>
              </a:rPr>
              <a:t>Código público</a:t>
            </a:r>
            <a:endParaRPr lang="en-US" sz="1700" dirty="0"/>
          </a:p>
          <a:p>
            <a:pPr indent="0" marL="0">
              <a:buNone/>
            </a:pPr>
            <a:r>
              <a:rPr lang="en-US" sz="1400" dirty="0">
                <a:solidFill>
                  <a:schemeClr val="accent5"/>
                </a:solidFill>
              </a:rPr>
              <a:t>Todo el código está publicado en GitHub para revisarlo.</a:t>
            </a:r>
            <a:endParaRPr lang="en-US" sz="17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CALIDAD</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Probado de principio a fin</a:t>
            </a:r>
            <a:endParaRPr lang="en-US" sz="3600" dirty="0"/>
          </a:p>
        </p:txBody>
      </p:sp>
      <p:sp>
        <p:nvSpPr>
          <p:cNvPr id="4" name="cifra-198"/>
          <p:cNvSpPr txBox="1"/>
          <p:nvPr/>
        </p:nvSpPr>
        <p:spPr>
          <a:xfrm>
            <a:off x="640080" y="1828800"/>
            <a:ext cx="2522144" cy="91440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42/42</a:t>
            </a:r>
            <a:endParaRPr lang="en-US" sz="5400" dirty="0"/>
          </a:p>
        </p:txBody>
      </p:sp>
      <p:sp>
        <p:nvSpPr>
          <p:cNvPr id="5" name="texto-199"/>
          <p:cNvSpPr txBox="1"/>
          <p:nvPr/>
        </p:nvSpPr>
        <p:spPr>
          <a:xfrm>
            <a:off x="640080" y="2880360"/>
            <a:ext cx="2339264" cy="11887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Pruebas automáticas</a:t>
            </a:r>
            <a:endParaRPr lang="en-US" sz="1700" dirty="0"/>
          </a:p>
          <a:p>
            <a:pPr indent="0" marL="0">
              <a:buNone/>
            </a:pPr>
            <a:r>
              <a:rPr lang="en-US" sz="1400" dirty="0">
                <a:solidFill>
                  <a:schemeClr val="accent6"/>
                </a:solidFill>
              </a:rPr>
              <a:t>Extensión y celular conectados de verdad.</a:t>
            </a:r>
            <a:endParaRPr lang="en-US" sz="1700" dirty="0"/>
          </a:p>
        </p:txBody>
      </p:sp>
      <p:sp>
        <p:nvSpPr>
          <p:cNvPr id="6" name="cifra-200"/>
          <p:cNvSpPr txBox="1"/>
          <p:nvPr/>
        </p:nvSpPr>
        <p:spPr>
          <a:xfrm>
            <a:off x="3436544" y="1828800"/>
            <a:ext cx="2522144" cy="91440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28/28</a:t>
            </a:r>
            <a:endParaRPr lang="en-US" sz="5400" dirty="0"/>
          </a:p>
        </p:txBody>
      </p:sp>
      <p:sp>
        <p:nvSpPr>
          <p:cNvPr id="7" name="texto-201"/>
          <p:cNvSpPr txBox="1"/>
          <p:nvPr/>
        </p:nvSpPr>
        <p:spPr>
          <a:xfrm>
            <a:off x="3436544" y="2880360"/>
            <a:ext cx="2339264" cy="11887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Pantallas y vistas</a:t>
            </a:r>
            <a:endParaRPr lang="en-US" sz="1700" dirty="0"/>
          </a:p>
          <a:p>
            <a:pPr indent="0" marL="0">
              <a:buNone/>
            </a:pPr>
            <a:r>
              <a:rPr lang="en-US" sz="1400" dirty="0">
                <a:solidFill>
                  <a:schemeClr val="accent6"/>
                </a:solidFill>
              </a:rPr>
              <a:t>Del celular más pequeño a la tablet, sin errores.</a:t>
            </a:r>
            <a:endParaRPr lang="en-US" sz="1700" dirty="0"/>
          </a:p>
        </p:txBody>
      </p:sp>
      <p:sp>
        <p:nvSpPr>
          <p:cNvPr id="8" name="cifra-202"/>
          <p:cNvSpPr txBox="1"/>
          <p:nvPr/>
        </p:nvSpPr>
        <p:spPr>
          <a:xfrm>
            <a:off x="6233008" y="1828800"/>
            <a:ext cx="2522144" cy="91440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2,7 s</a:t>
            </a:r>
            <a:endParaRPr lang="en-US" sz="5400" dirty="0"/>
          </a:p>
        </p:txBody>
      </p:sp>
      <p:sp>
        <p:nvSpPr>
          <p:cNvPr id="9" name="texto-203"/>
          <p:cNvSpPr txBox="1"/>
          <p:nvPr/>
        </p:nvSpPr>
        <p:spPr>
          <a:xfrm>
            <a:off x="6233008" y="2880360"/>
            <a:ext cx="2339264" cy="11887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Reconexión automática</a:t>
            </a:r>
            <a:endParaRPr lang="en-US" sz="1700" dirty="0"/>
          </a:p>
          <a:p>
            <a:pPr indent="0" marL="0">
              <a:buNone/>
            </a:pPr>
            <a:r>
              <a:rPr lang="en-US" sz="1400" dirty="0">
                <a:solidFill>
                  <a:schemeClr val="accent6"/>
                </a:solidFill>
              </a:rPr>
              <a:t>Si se corta el servidor, sin soltar al celular.</a:t>
            </a:r>
            <a:endParaRPr lang="en-US" sz="1700" dirty="0"/>
          </a:p>
        </p:txBody>
      </p:sp>
      <p:sp>
        <p:nvSpPr>
          <p:cNvPr id="10" name="cifra-204"/>
          <p:cNvSpPr txBox="1"/>
          <p:nvPr/>
        </p:nvSpPr>
        <p:spPr>
          <a:xfrm>
            <a:off x="9029471" y="1828800"/>
            <a:ext cx="2522144" cy="914400"/>
          </a:xfrm>
          <a:prstGeom prst="rect">
            <a:avLst/>
          </a:prstGeom>
          <a:noFill/>
          <a:ln/>
        </p:spPr>
        <p:txBody>
          <a:bodyPr wrap="square" lIns="0" tIns="0" rIns="0" bIns="0" rtlCol="0" anchor="b"/>
          <a:lstStyle/>
          <a:p>
            <a:pPr indent="0" marL="0">
              <a:buNone/>
            </a:pPr>
            <a:r>
              <a:rPr lang="en-US" sz="5400" b="1" dirty="0">
                <a:solidFill>
                  <a:schemeClr val="accent1"/>
                </a:solidFill>
                <a:latin typeface="Arial" pitchFamily="34" charset="0"/>
                <a:ea typeface="Arial" pitchFamily="34" charset="-122"/>
                <a:cs typeface="Arial" pitchFamily="34" charset="-120"/>
              </a:rPr>
              <a:t>80 KB</a:t>
            </a:r>
            <a:endParaRPr lang="en-US" sz="5400" dirty="0"/>
          </a:p>
        </p:txBody>
      </p:sp>
      <p:sp>
        <p:nvSpPr>
          <p:cNvPr id="11" name="texto-205"/>
          <p:cNvSpPr txBox="1"/>
          <p:nvPr/>
        </p:nvSpPr>
        <p:spPr>
          <a:xfrm>
            <a:off x="9029471" y="2880360"/>
            <a:ext cx="2339264" cy="1188720"/>
          </a:xfrm>
          <a:prstGeom prst="rect">
            <a:avLst/>
          </a:prstGeom>
          <a:noFill/>
          <a:ln/>
        </p:spPr>
        <p:txBody>
          <a:bodyPr wrap="square" lIns="0" tIns="0" rIns="0" bIns="0" rtlCol="0" anchor="t"/>
          <a:lstStyle/>
          <a:p>
            <a:pPr indent="0" marL="0">
              <a:spcAft>
                <a:spcPts val="300"/>
              </a:spcAft>
              <a:buNone/>
            </a:pPr>
            <a:r>
              <a:rPr lang="en-US" sz="1700" b="1" dirty="0">
                <a:solidFill>
                  <a:schemeClr val="tx1"/>
                </a:solidFill>
              </a:rPr>
              <a:t>Extensión liviana</a:t>
            </a:r>
            <a:endParaRPr lang="en-US" sz="1700" dirty="0"/>
          </a:p>
          <a:p>
            <a:pPr indent="0" marL="0">
              <a:buNone/>
            </a:pPr>
            <a:r>
              <a:rPr lang="en-US" sz="1400" dirty="0">
                <a:solidFill>
                  <a:schemeClr val="accent6"/>
                </a:solidFill>
              </a:rPr>
              <a:t>Todo el código incluido, sin descargas externas.</a:t>
            </a:r>
            <a:endParaRPr lang="en-US" sz="1700" dirty="0"/>
          </a:p>
        </p:txBody>
      </p:sp>
      <p:sp>
        <p:nvSpPr>
          <p:cNvPr id="12" name="tarjeta-206"/>
          <p:cNvSpPr/>
          <p:nvPr/>
        </p:nvSpPr>
        <p:spPr>
          <a:xfrm>
            <a:off x="640080" y="4343400"/>
            <a:ext cx="10911535" cy="1325880"/>
          </a:xfrm>
          <a:prstGeom prst="roundRect">
            <a:avLst>
              <a:gd name="adj" fmla="val 11034"/>
            </a:avLst>
          </a:prstGeom>
          <a:solidFill>
            <a:schemeClr val="bg2"/>
          </a:solidFill>
          <a:ln/>
        </p:spPr>
      </p:sp>
      <p:pic>
        <p:nvPicPr>
          <p:cNvPr id="13" name="check-207" descr="preencoded.png">    </p:cNvPr>
          <p:cNvPicPr>
            <a:picLocks noChangeAspect="1"/>
          </p:cNvPicPr>
          <p:nvPr/>
        </p:nvPicPr>
        <p:blipFill>
          <a:blip r:embed="rId1"/>
          <a:stretch>
            <a:fillRect/>
          </a:stretch>
        </p:blipFill>
        <p:spPr>
          <a:xfrm>
            <a:off x="960120" y="4617720"/>
            <a:ext cx="329184" cy="329184"/>
          </a:xfrm>
          <a:prstGeom prst="rect">
            <a:avLst/>
          </a:prstGeom>
        </p:spPr>
      </p:pic>
      <p:sp>
        <p:nvSpPr>
          <p:cNvPr id="14" name="texto-208"/>
          <p:cNvSpPr txBox="1"/>
          <p:nvPr/>
        </p:nvSpPr>
        <p:spPr>
          <a:xfrm>
            <a:off x="1463040" y="4553712"/>
            <a:ext cx="2692298" cy="10515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Google Slides y reveal.js reales</a:t>
            </a:r>
            <a:endParaRPr lang="en-US" sz="1500" dirty="0"/>
          </a:p>
          <a:p>
            <a:pPr indent="0" marL="0">
              <a:buNone/>
            </a:pPr>
            <a:r>
              <a:rPr lang="en-US" sz="1300" dirty="0">
                <a:solidFill>
                  <a:schemeClr val="accent6"/>
                </a:solidFill>
              </a:rPr>
              <a:t>Iniciar, avanzar, retroceder y salir.</a:t>
            </a:r>
            <a:endParaRPr lang="en-US" sz="1500" dirty="0"/>
          </a:p>
        </p:txBody>
      </p:sp>
      <p:pic>
        <p:nvPicPr>
          <p:cNvPr id="15" name="check-209" descr="preencoded.png">    </p:cNvPr>
          <p:cNvPicPr>
            <a:picLocks noChangeAspect="1"/>
          </p:cNvPicPr>
          <p:nvPr/>
        </p:nvPicPr>
        <p:blipFill>
          <a:blip r:embed="rId2"/>
          <a:stretch>
            <a:fillRect/>
          </a:stretch>
        </p:blipFill>
        <p:spPr>
          <a:xfrm>
            <a:off x="4475378" y="4617720"/>
            <a:ext cx="329184" cy="329184"/>
          </a:xfrm>
          <a:prstGeom prst="rect">
            <a:avLst/>
          </a:prstGeom>
        </p:spPr>
      </p:pic>
      <p:sp>
        <p:nvSpPr>
          <p:cNvPr id="16" name="texto-210"/>
          <p:cNvSpPr txBox="1"/>
          <p:nvPr/>
        </p:nvSpPr>
        <p:spPr>
          <a:xfrm>
            <a:off x="4978298" y="4553712"/>
            <a:ext cx="2692298" cy="10515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Redes de empresa</a:t>
            </a:r>
            <a:endParaRPr lang="en-US" sz="1500" dirty="0"/>
          </a:p>
          <a:p>
            <a:pPr indent="0" marL="0">
              <a:buNone/>
            </a:pPr>
            <a:r>
              <a:rPr lang="en-US" sz="1300" dirty="0">
                <a:solidFill>
                  <a:schemeClr val="accent6"/>
                </a:solidFill>
              </a:rPr>
              <a:t>Conecta por Cloudflare incluso solo con el puerto 443.</a:t>
            </a:r>
            <a:endParaRPr lang="en-US" sz="1500" dirty="0"/>
          </a:p>
        </p:txBody>
      </p:sp>
      <p:pic>
        <p:nvPicPr>
          <p:cNvPr id="17" name="check-211" descr="preencoded.png">    </p:cNvPr>
          <p:cNvPicPr>
            <a:picLocks noChangeAspect="1"/>
          </p:cNvPicPr>
          <p:nvPr/>
        </p:nvPicPr>
        <p:blipFill>
          <a:blip r:embed="rId3"/>
          <a:stretch>
            <a:fillRect/>
          </a:stretch>
        </p:blipFill>
        <p:spPr>
          <a:xfrm>
            <a:off x="7990637" y="4617720"/>
            <a:ext cx="329184" cy="329184"/>
          </a:xfrm>
          <a:prstGeom prst="rect">
            <a:avLst/>
          </a:prstGeom>
        </p:spPr>
      </p:pic>
      <p:sp>
        <p:nvSpPr>
          <p:cNvPr id="18" name="texto-212"/>
          <p:cNvSpPr txBox="1"/>
          <p:nvPr/>
        </p:nvSpPr>
        <p:spPr>
          <a:xfrm>
            <a:off x="8493557" y="4553712"/>
            <a:ext cx="2692298" cy="1051560"/>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Código QR fácil de escanear</a:t>
            </a:r>
            <a:endParaRPr lang="en-US" sz="1500" dirty="0"/>
          </a:p>
          <a:p>
            <a:pPr indent="0" marL="0">
              <a:buNone/>
            </a:pPr>
            <a:r>
              <a:rPr lang="en-US" sz="1300" dirty="0">
                <a:solidFill>
                  <a:schemeClr val="accent6"/>
                </a:solidFill>
              </a:rPr>
              <a:t>Se lee incluso reducido al 30 % de su tamaño.</a:t>
            </a:r>
            <a:endParaRPr lang="en-US" sz="15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438912"/>
            <a:ext cx="8229600" cy="292608"/>
          </a:xfrm>
          <a:prstGeom prst="rect">
            <a:avLst/>
          </a:prstGeom>
          <a:noFill/>
          <a:ln/>
        </p:spPr>
        <p:txBody>
          <a:bodyPr wrap="square" lIns="0" tIns="0" rIns="0" bIns="0" rtlCol="0" anchor="ctr"/>
          <a:lstStyle/>
          <a:p>
            <a:pPr algn="l" indent="0" marL="0">
              <a:buNone/>
            </a:pPr>
            <a:r>
              <a:rPr lang="en-US" sz="1200" b="1" spc="200" kern="0" dirty="0">
                <a:solidFill>
                  <a:schemeClr val="accent1"/>
                </a:solidFill>
              </a:rPr>
              <a:t>ESTADO DEL PROYECTO</a:t>
            </a:r>
            <a:endParaRPr lang="en-US" sz="1200" dirty="0"/>
          </a:p>
        </p:txBody>
      </p:sp>
      <p:sp>
        <p:nvSpPr>
          <p:cNvPr id="3" name="Text 0"/>
          <p:cNvSpPr/>
          <p:nvPr>
            <p:ph idx="101" type="title" hasCustomPrompt="1"/>
          </p:nvPr>
        </p:nvSpPr>
        <p:spPr>
          <a:xfrm>
            <a:off x="640080" y="768096"/>
            <a:ext cx="10911535" cy="731520"/>
          </a:xfrm>
          <a:prstGeom prst="rect">
            <a:avLst/>
          </a:prstGeom>
          <a:noFill/>
          <a:ln/>
        </p:spPr>
        <p:txBody>
          <a:bodyPr wrap="square" lIns="0" tIns="0" rIns="0" bIns="0" rtlCol="0" anchor="t"/>
          <a:lstStyle/>
          <a:p>
            <a:pPr algn="l" indent="0" marL="0">
              <a:buNone/>
            </a:pPr>
            <a:r>
              <a:rPr lang="en-US" sz="3600" b="1" dirty="0">
                <a:solidFill>
                  <a:schemeClr val="tx1"/>
                </a:solidFill>
              </a:rPr>
              <a:t>Lo que ya está listo y lo que sigue</a:t>
            </a:r>
            <a:endParaRPr lang="en-US" sz="3600" dirty="0"/>
          </a:p>
        </p:txBody>
      </p:sp>
      <p:sp>
        <p:nvSpPr>
          <p:cNvPr id="4" name="tarjeta-213"/>
          <p:cNvSpPr/>
          <p:nvPr/>
        </p:nvSpPr>
        <p:spPr>
          <a:xfrm>
            <a:off x="640080" y="1783080"/>
            <a:ext cx="5300320" cy="3794760"/>
          </a:xfrm>
          <a:prstGeom prst="roundRect">
            <a:avLst>
              <a:gd name="adj" fmla="val 3855"/>
            </a:avLst>
          </a:prstGeom>
          <a:solidFill>
            <a:schemeClr val="bg2"/>
          </a:solidFill>
          <a:ln/>
        </p:spPr>
      </p:sp>
      <p:sp>
        <p:nvSpPr>
          <p:cNvPr id="5" name="listo"/>
          <p:cNvSpPr txBox="1"/>
          <p:nvPr/>
        </p:nvSpPr>
        <p:spPr>
          <a:xfrm>
            <a:off x="960120" y="1965960"/>
            <a:ext cx="4660240" cy="457200"/>
          </a:xfrm>
          <a:prstGeom prst="rect">
            <a:avLst/>
          </a:prstGeom>
          <a:noFill/>
          <a:ln/>
        </p:spPr>
        <p:txBody>
          <a:bodyPr wrap="square" lIns="0" tIns="0" rIns="0" bIns="0" rtlCol="0" anchor="ctr"/>
          <a:lstStyle/>
          <a:p>
            <a:pPr indent="0" marL="0">
              <a:buNone/>
            </a:pPr>
            <a:r>
              <a:rPr lang="en-US" sz="1800" b="1" dirty="0">
                <a:solidFill>
                  <a:schemeClr val="tx1"/>
                </a:solidFill>
              </a:rPr>
              <a:t>Ya disponible</a:t>
            </a:r>
            <a:endParaRPr lang="en-US" sz="1800" dirty="0"/>
          </a:p>
        </p:txBody>
      </p:sp>
      <p:sp>
        <p:nvSpPr>
          <p:cNvPr id="6" name="hecho-214"/>
          <p:cNvSpPr/>
          <p:nvPr/>
        </p:nvSpPr>
        <p:spPr>
          <a:xfrm>
            <a:off x="960120" y="2532888"/>
            <a:ext cx="402336" cy="402336"/>
          </a:xfrm>
          <a:prstGeom prst="ellipse">
            <a:avLst/>
          </a:prstGeom>
          <a:solidFill>
            <a:schemeClr val="accent2"/>
          </a:solidFill>
          <a:ln/>
        </p:spPr>
      </p:sp>
      <p:pic>
        <p:nvPicPr>
          <p:cNvPr id="7" name="hecho-icono-215" descr="preencoded.png">    </p:cNvPr>
          <p:cNvPicPr>
            <a:picLocks noChangeAspect="1"/>
          </p:cNvPicPr>
          <p:nvPr/>
        </p:nvPicPr>
        <p:blipFill>
          <a:blip r:embed="rId1"/>
          <a:stretch>
            <a:fillRect/>
          </a:stretch>
        </p:blipFill>
        <p:spPr>
          <a:xfrm>
            <a:off x="1042416" y="2615184"/>
            <a:ext cx="237744" cy="237744"/>
          </a:xfrm>
          <a:prstGeom prst="rect">
            <a:avLst/>
          </a:prstGeom>
        </p:spPr>
      </p:pic>
      <p:sp>
        <p:nvSpPr>
          <p:cNvPr id="8" name="texto-216"/>
          <p:cNvSpPr txBox="1"/>
          <p:nvPr/>
        </p:nvSpPr>
        <p:spPr>
          <a:xfrm>
            <a:off x="1536192" y="2496312"/>
            <a:ext cx="4111600" cy="71323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Instaladores para Windows y Mac</a:t>
            </a:r>
            <a:endParaRPr lang="en-US" sz="1500" dirty="0"/>
          </a:p>
          <a:p>
            <a:pPr indent="0" marL="0">
              <a:buNone/>
            </a:pPr>
            <a:r>
              <a:rPr lang="en-US" sz="1300" dirty="0">
                <a:solidFill>
                  <a:schemeClr val="accent6"/>
                </a:solidFill>
              </a:rPr>
              <a:t>Windows, Mac Intel y Mac con chip M.</a:t>
            </a:r>
            <a:endParaRPr lang="en-US" sz="1500" dirty="0"/>
          </a:p>
        </p:txBody>
      </p:sp>
      <p:sp>
        <p:nvSpPr>
          <p:cNvPr id="9" name="hecho-217"/>
          <p:cNvSpPr/>
          <p:nvPr/>
        </p:nvSpPr>
        <p:spPr>
          <a:xfrm>
            <a:off x="960120" y="3136392"/>
            <a:ext cx="402336" cy="402336"/>
          </a:xfrm>
          <a:prstGeom prst="ellipse">
            <a:avLst/>
          </a:prstGeom>
          <a:solidFill>
            <a:schemeClr val="accent2"/>
          </a:solidFill>
          <a:ln/>
        </p:spPr>
      </p:sp>
      <p:pic>
        <p:nvPicPr>
          <p:cNvPr id="10" name="hecho-icono-218" descr="preencoded.png">    </p:cNvPr>
          <p:cNvPicPr>
            <a:picLocks noChangeAspect="1"/>
          </p:cNvPicPr>
          <p:nvPr/>
        </p:nvPicPr>
        <p:blipFill>
          <a:blip r:embed="rId2"/>
          <a:stretch>
            <a:fillRect/>
          </a:stretch>
        </p:blipFill>
        <p:spPr>
          <a:xfrm>
            <a:off x="1042416" y="3218688"/>
            <a:ext cx="237744" cy="237744"/>
          </a:xfrm>
          <a:prstGeom prst="rect">
            <a:avLst/>
          </a:prstGeom>
        </p:spPr>
      </p:pic>
      <p:sp>
        <p:nvSpPr>
          <p:cNvPr id="11" name="texto-219"/>
          <p:cNvSpPr txBox="1"/>
          <p:nvPr/>
        </p:nvSpPr>
        <p:spPr>
          <a:xfrm>
            <a:off x="1536192" y="3099816"/>
            <a:ext cx="4111600" cy="71323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Retransmisión con Cloudflare</a:t>
            </a:r>
            <a:endParaRPr lang="en-US" sz="1500" dirty="0"/>
          </a:p>
          <a:p>
            <a:pPr indent="0" marL="0">
              <a:buNone/>
            </a:pPr>
            <a:r>
              <a:rPr lang="en-US" sz="1300" dirty="0">
                <a:solidFill>
                  <a:schemeClr val="accent6"/>
                </a:solidFill>
              </a:rPr>
              <a:t>Conecta incluso en redes de empresa (puerto 443).</a:t>
            </a:r>
            <a:endParaRPr lang="en-US" sz="1500" dirty="0"/>
          </a:p>
        </p:txBody>
      </p:sp>
      <p:sp>
        <p:nvSpPr>
          <p:cNvPr id="12" name="hecho-220"/>
          <p:cNvSpPr/>
          <p:nvPr/>
        </p:nvSpPr>
        <p:spPr>
          <a:xfrm>
            <a:off x="960120" y="3739896"/>
            <a:ext cx="402336" cy="402336"/>
          </a:xfrm>
          <a:prstGeom prst="ellipse">
            <a:avLst/>
          </a:prstGeom>
          <a:solidFill>
            <a:schemeClr val="accent2"/>
          </a:solidFill>
          <a:ln/>
        </p:spPr>
      </p:sp>
      <p:pic>
        <p:nvPicPr>
          <p:cNvPr id="13" name="hecho-icono-221" descr="preencoded.png">    </p:cNvPr>
          <p:cNvPicPr>
            <a:picLocks noChangeAspect="1"/>
          </p:cNvPicPr>
          <p:nvPr/>
        </p:nvPicPr>
        <p:blipFill>
          <a:blip r:embed="rId3"/>
          <a:stretch>
            <a:fillRect/>
          </a:stretch>
        </p:blipFill>
        <p:spPr>
          <a:xfrm>
            <a:off x="1042416" y="3822192"/>
            <a:ext cx="237744" cy="237744"/>
          </a:xfrm>
          <a:prstGeom prst="rect">
            <a:avLst/>
          </a:prstGeom>
        </p:spPr>
      </p:pic>
      <p:sp>
        <p:nvSpPr>
          <p:cNvPr id="14" name="texto-222"/>
          <p:cNvSpPr txBox="1"/>
          <p:nvPr/>
        </p:nvSpPr>
        <p:spPr>
          <a:xfrm>
            <a:off x="1536192" y="3703320"/>
            <a:ext cx="4111600" cy="71323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Protección de costos</a:t>
            </a:r>
            <a:endParaRPr lang="en-US" sz="1500" dirty="0"/>
          </a:p>
          <a:p>
            <a:pPr indent="0" marL="0">
              <a:buNone/>
            </a:pPr>
            <a:r>
              <a:rPr lang="en-US" sz="1300" dirty="0">
                <a:solidFill>
                  <a:schemeClr val="accent6"/>
                </a:solidFill>
              </a:rPr>
              <a:t>Se pausa sola a los 900 GB del mes y se reactiva cada mes.</a:t>
            </a:r>
            <a:endParaRPr lang="en-US" sz="1500" dirty="0"/>
          </a:p>
        </p:txBody>
      </p:sp>
      <p:sp>
        <p:nvSpPr>
          <p:cNvPr id="15" name="hecho-223"/>
          <p:cNvSpPr/>
          <p:nvPr/>
        </p:nvSpPr>
        <p:spPr>
          <a:xfrm>
            <a:off x="960120" y="4343400"/>
            <a:ext cx="402336" cy="402336"/>
          </a:xfrm>
          <a:prstGeom prst="ellipse">
            <a:avLst/>
          </a:prstGeom>
          <a:solidFill>
            <a:schemeClr val="accent2"/>
          </a:solidFill>
          <a:ln/>
        </p:spPr>
      </p:sp>
      <p:pic>
        <p:nvPicPr>
          <p:cNvPr id="16" name="hecho-icono-224" descr="preencoded.png">    </p:cNvPr>
          <p:cNvPicPr>
            <a:picLocks noChangeAspect="1"/>
          </p:cNvPicPr>
          <p:nvPr/>
        </p:nvPicPr>
        <p:blipFill>
          <a:blip r:embed="rId4"/>
          <a:stretch>
            <a:fillRect/>
          </a:stretch>
        </p:blipFill>
        <p:spPr>
          <a:xfrm>
            <a:off x="1042416" y="4425696"/>
            <a:ext cx="237744" cy="237744"/>
          </a:xfrm>
          <a:prstGeom prst="rect">
            <a:avLst/>
          </a:prstGeom>
        </p:spPr>
      </p:pic>
      <p:sp>
        <p:nvSpPr>
          <p:cNvPr id="17" name="texto-225"/>
          <p:cNvSpPr txBox="1"/>
          <p:nvPr/>
        </p:nvSpPr>
        <p:spPr>
          <a:xfrm>
            <a:off x="1536192" y="4306824"/>
            <a:ext cx="4111600" cy="71323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Código QR nuevo en cada sesión</a:t>
            </a:r>
            <a:endParaRPr lang="en-US" sz="1500" dirty="0"/>
          </a:p>
          <a:p>
            <a:pPr indent="0" marL="0">
              <a:buNone/>
            </a:pPr>
            <a:r>
              <a:rPr lang="en-US" sz="1300" dirty="0">
                <a:solidFill>
                  <a:schemeClr val="accent6"/>
                </a:solidFill>
              </a:rPr>
              <a:t>Activado por defecto; se puede cambiar en Ajustes.</a:t>
            </a:r>
            <a:endParaRPr lang="en-US" sz="1500" dirty="0"/>
          </a:p>
        </p:txBody>
      </p:sp>
      <p:sp>
        <p:nvSpPr>
          <p:cNvPr id="18" name="hecho-226"/>
          <p:cNvSpPr/>
          <p:nvPr/>
        </p:nvSpPr>
        <p:spPr>
          <a:xfrm>
            <a:off x="960120" y="4946904"/>
            <a:ext cx="402336" cy="402336"/>
          </a:xfrm>
          <a:prstGeom prst="ellipse">
            <a:avLst/>
          </a:prstGeom>
          <a:solidFill>
            <a:schemeClr val="accent2"/>
          </a:solidFill>
          <a:ln/>
        </p:spPr>
      </p:sp>
      <p:pic>
        <p:nvPicPr>
          <p:cNvPr id="19" name="hecho-icono-227" descr="preencoded.png">    </p:cNvPr>
          <p:cNvPicPr>
            <a:picLocks noChangeAspect="1"/>
          </p:cNvPicPr>
          <p:nvPr/>
        </p:nvPicPr>
        <p:blipFill>
          <a:blip r:embed="rId5"/>
          <a:stretch>
            <a:fillRect/>
          </a:stretch>
        </p:blipFill>
        <p:spPr>
          <a:xfrm>
            <a:off x="1042416" y="5029200"/>
            <a:ext cx="237744" cy="237744"/>
          </a:xfrm>
          <a:prstGeom prst="rect">
            <a:avLst/>
          </a:prstGeom>
        </p:spPr>
      </p:pic>
      <p:sp>
        <p:nvSpPr>
          <p:cNvPr id="20" name="texto-228"/>
          <p:cNvSpPr txBox="1"/>
          <p:nvPr/>
        </p:nvSpPr>
        <p:spPr>
          <a:xfrm>
            <a:off x="1536192" y="4910328"/>
            <a:ext cx="4111600" cy="713232"/>
          </a:xfrm>
          <a:prstGeom prst="rect">
            <a:avLst/>
          </a:prstGeom>
          <a:noFill/>
          <a:ln/>
        </p:spPr>
        <p:txBody>
          <a:bodyPr wrap="square" lIns="0" tIns="0" rIns="0" bIns="0" rtlCol="0" anchor="t"/>
          <a:lstStyle/>
          <a:p>
            <a:pPr indent="0" marL="0">
              <a:spcAft>
                <a:spcPts val="300"/>
              </a:spcAft>
              <a:buNone/>
            </a:pPr>
            <a:r>
              <a:rPr lang="en-US" sz="1500" b="1" dirty="0">
                <a:solidFill>
                  <a:schemeClr val="tx1"/>
                </a:solidFill>
              </a:rPr>
              <a:t>Control web publicado</a:t>
            </a:r>
            <a:endParaRPr lang="en-US" sz="1500" dirty="0"/>
          </a:p>
          <a:p>
            <a:pPr indent="0" marL="0">
              <a:buNone/>
            </a:pPr>
            <a:r>
              <a:rPr lang="en-US" sz="1300" dirty="0">
                <a:solidFill>
                  <a:schemeClr val="accent6"/>
                </a:solidFill>
              </a:rPr>
              <a:t>En GitHub Pages, con reconexión automática.</a:t>
            </a:r>
            <a:endParaRPr lang="en-US" sz="1500" dirty="0"/>
          </a:p>
        </p:txBody>
      </p:sp>
      <p:sp>
        <p:nvSpPr>
          <p:cNvPr id="21" name="sigue"/>
          <p:cNvSpPr txBox="1"/>
          <p:nvPr/>
        </p:nvSpPr>
        <p:spPr>
          <a:xfrm>
            <a:off x="6251296" y="1965960"/>
            <a:ext cx="5300320" cy="457200"/>
          </a:xfrm>
          <a:prstGeom prst="rect">
            <a:avLst/>
          </a:prstGeom>
          <a:noFill/>
          <a:ln/>
        </p:spPr>
        <p:txBody>
          <a:bodyPr wrap="square" lIns="0" tIns="0" rIns="0" bIns="0" rtlCol="0" anchor="ctr"/>
          <a:lstStyle/>
          <a:p>
            <a:pPr indent="0" marL="0">
              <a:buNone/>
            </a:pPr>
            <a:r>
              <a:rPr lang="en-US" sz="1800" b="1" dirty="0">
                <a:solidFill>
                  <a:schemeClr val="tx1"/>
                </a:solidFill>
              </a:rPr>
              <a:t>Lo que sigue</a:t>
            </a:r>
            <a:endParaRPr lang="en-US" sz="1800" dirty="0"/>
          </a:p>
        </p:txBody>
      </p:sp>
      <p:sp>
        <p:nvSpPr>
          <p:cNvPr id="22" name="icono-fondo-229"/>
          <p:cNvSpPr/>
          <p:nvPr/>
        </p:nvSpPr>
        <p:spPr>
          <a:xfrm>
            <a:off x="6251296" y="2560320"/>
            <a:ext cx="502920" cy="502920"/>
          </a:xfrm>
          <a:prstGeom prst="roundRect">
            <a:avLst>
              <a:gd name="adj" fmla="val 26000"/>
            </a:avLst>
          </a:prstGeom>
          <a:solidFill>
            <a:schemeClr val="accent1"/>
          </a:solidFill>
          <a:ln/>
        </p:spPr>
      </p:sp>
      <p:pic>
        <p:nvPicPr>
          <p:cNvPr id="23" name="icono-LuHourglass-230" descr="preencoded.png">    </p:cNvPr>
          <p:cNvPicPr>
            <a:picLocks noChangeAspect="1"/>
          </p:cNvPicPr>
          <p:nvPr/>
        </p:nvPicPr>
        <p:blipFill>
          <a:blip r:embed="rId6"/>
          <a:stretch>
            <a:fillRect/>
          </a:stretch>
        </p:blipFill>
        <p:spPr>
          <a:xfrm>
            <a:off x="6371996" y="2681021"/>
            <a:ext cx="261518" cy="261518"/>
          </a:xfrm>
          <a:prstGeom prst="rect">
            <a:avLst/>
          </a:prstGeom>
        </p:spPr>
      </p:pic>
      <p:sp>
        <p:nvSpPr>
          <p:cNvPr id="24" name="texto-231"/>
          <p:cNvSpPr txBox="1"/>
          <p:nvPr/>
        </p:nvSpPr>
        <p:spPr>
          <a:xfrm>
            <a:off x="6982816" y="2523744"/>
            <a:ext cx="4568800" cy="105156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Chrome Web Store</a:t>
            </a:r>
            <a:endParaRPr lang="en-US" sz="1600" dirty="0"/>
          </a:p>
          <a:p>
            <a:pPr indent="0" marL="0">
              <a:buNone/>
            </a:pPr>
            <a:r>
              <a:rPr lang="en-US" sz="1400" dirty="0">
                <a:solidFill>
                  <a:schemeClr val="accent6"/>
                </a:solidFill>
              </a:rPr>
              <a:t>La versión 1.0 («Mando») está en revisión. Al aprobarse, se sube la 1.1 con el nombre Presentazo.</a:t>
            </a:r>
            <a:endParaRPr lang="en-US" sz="1600" dirty="0"/>
          </a:p>
        </p:txBody>
      </p:sp>
      <p:sp>
        <p:nvSpPr>
          <p:cNvPr id="25" name="icono-fondo-232"/>
          <p:cNvSpPr/>
          <p:nvPr/>
        </p:nvSpPr>
        <p:spPr>
          <a:xfrm>
            <a:off x="6251296" y="3547872"/>
            <a:ext cx="502920" cy="502920"/>
          </a:xfrm>
          <a:prstGeom prst="roundRect">
            <a:avLst>
              <a:gd name="adj" fmla="val 26000"/>
            </a:avLst>
          </a:prstGeom>
          <a:solidFill>
            <a:schemeClr val="accent1"/>
          </a:solidFill>
          <a:ln/>
        </p:spPr>
      </p:sp>
      <p:pic>
        <p:nvPicPr>
          <p:cNvPr id="26" name="icono-LuBadgeCheck-233" descr="preencoded.png">    </p:cNvPr>
          <p:cNvPicPr>
            <a:picLocks noChangeAspect="1"/>
          </p:cNvPicPr>
          <p:nvPr/>
        </p:nvPicPr>
        <p:blipFill>
          <a:blip r:embed="rId7"/>
          <a:stretch>
            <a:fillRect/>
          </a:stretch>
        </p:blipFill>
        <p:spPr>
          <a:xfrm>
            <a:off x="6371996" y="3668573"/>
            <a:ext cx="261518" cy="261518"/>
          </a:xfrm>
          <a:prstGeom prst="rect">
            <a:avLst/>
          </a:prstGeom>
        </p:spPr>
      </p:pic>
      <p:sp>
        <p:nvSpPr>
          <p:cNvPr id="27" name="texto-234"/>
          <p:cNvSpPr txBox="1"/>
          <p:nvPr/>
        </p:nvSpPr>
        <p:spPr>
          <a:xfrm>
            <a:off x="6982816" y="3511296"/>
            <a:ext cx="4568800" cy="105156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Firma de Apple y Microsoft</a:t>
            </a:r>
            <a:endParaRPr lang="en-US" sz="1600" dirty="0"/>
          </a:p>
          <a:p>
            <a:pPr indent="0" marL="0">
              <a:buNone/>
            </a:pPr>
            <a:r>
              <a:rPr lang="en-US" sz="1400" dirty="0">
                <a:solidFill>
                  <a:schemeClr val="accent6"/>
                </a:solidFill>
              </a:rPr>
              <a:t>Firmar los instaladores para que no aparezca el aviso de seguridad al abrirlos.</a:t>
            </a:r>
            <a:endParaRPr lang="en-US" sz="1600" dirty="0"/>
          </a:p>
        </p:txBody>
      </p:sp>
      <p:sp>
        <p:nvSpPr>
          <p:cNvPr id="28" name="icono-fondo-235"/>
          <p:cNvSpPr/>
          <p:nvPr/>
        </p:nvSpPr>
        <p:spPr>
          <a:xfrm>
            <a:off x="6251296" y="4535424"/>
            <a:ext cx="502920" cy="502920"/>
          </a:xfrm>
          <a:prstGeom prst="roundRect">
            <a:avLst>
              <a:gd name="adj" fmla="val 26000"/>
            </a:avLst>
          </a:prstGeom>
          <a:solidFill>
            <a:schemeClr val="accent1"/>
          </a:solidFill>
          <a:ln/>
        </p:spPr>
      </p:sp>
      <p:pic>
        <p:nvPicPr>
          <p:cNvPr id="29" name="icono-LuWatch-236" descr="preencoded.png">    </p:cNvPr>
          <p:cNvPicPr>
            <a:picLocks noChangeAspect="1"/>
          </p:cNvPicPr>
          <p:nvPr/>
        </p:nvPicPr>
        <p:blipFill>
          <a:blip r:embed="rId8"/>
          <a:stretch>
            <a:fillRect/>
          </a:stretch>
        </p:blipFill>
        <p:spPr>
          <a:xfrm>
            <a:off x="6371996" y="4656125"/>
            <a:ext cx="261518" cy="261518"/>
          </a:xfrm>
          <a:prstGeom prst="rect">
            <a:avLst/>
          </a:prstGeom>
        </p:spPr>
      </p:pic>
      <p:sp>
        <p:nvSpPr>
          <p:cNvPr id="30" name="texto-237"/>
          <p:cNvSpPr txBox="1"/>
          <p:nvPr/>
        </p:nvSpPr>
        <p:spPr>
          <a:xfrm>
            <a:off x="6982816" y="4498848"/>
            <a:ext cx="4568800" cy="1051560"/>
          </a:xfrm>
          <a:prstGeom prst="rect">
            <a:avLst/>
          </a:prstGeom>
          <a:noFill/>
          <a:ln/>
        </p:spPr>
        <p:txBody>
          <a:bodyPr wrap="square" lIns="0" tIns="0" rIns="0" bIns="0" rtlCol="0" anchor="t"/>
          <a:lstStyle/>
          <a:p>
            <a:pPr indent="0" marL="0">
              <a:spcAft>
                <a:spcPts val="300"/>
              </a:spcAft>
              <a:buNone/>
            </a:pPr>
            <a:r>
              <a:rPr lang="en-US" sz="1600" b="1" dirty="0">
                <a:solidFill>
                  <a:schemeClr val="tx1"/>
                </a:solidFill>
              </a:rPr>
              <a:t>App para Apple Watch</a:t>
            </a:r>
            <a:endParaRPr lang="en-US" sz="1600" dirty="0"/>
          </a:p>
          <a:p>
            <a:pPr indent="0" marL="0">
              <a:buNone/>
            </a:pPr>
            <a:r>
              <a:rPr lang="en-US" sz="1400" dirty="0">
                <a:solidFill>
                  <a:schemeClr val="accent6"/>
                </a:solidFill>
              </a:rPr>
              <a:t>Evaluar una app nativa que use el iPhone como puente.</a:t>
            </a:r>
            <a:endParaRPr lang="en-US" sz="1600" dirty="0"/>
          </a:p>
        </p:txBody>
      </p:sp>
      <p:pic>
        <p:nvPicPr>
          <p:cNvPr id="31" name="limites-icono" descr="preencoded.png">    </p:cNvPr>
          <p:cNvPicPr>
            <a:picLocks noChangeAspect="1"/>
          </p:cNvPicPr>
          <p:nvPr/>
        </p:nvPicPr>
        <p:blipFill>
          <a:blip r:embed="rId9"/>
          <a:stretch>
            <a:fillRect/>
          </a:stretch>
        </p:blipFill>
        <p:spPr>
          <a:xfrm>
            <a:off x="640080" y="5788152"/>
            <a:ext cx="256032" cy="256032"/>
          </a:xfrm>
          <a:prstGeom prst="rect">
            <a:avLst/>
          </a:prstGeom>
        </p:spPr>
      </p:pic>
      <p:sp>
        <p:nvSpPr>
          <p:cNvPr id="32" name="limites"/>
          <p:cNvSpPr txBox="1"/>
          <p:nvPr/>
        </p:nvSpPr>
        <p:spPr>
          <a:xfrm>
            <a:off x="1024128" y="5715000"/>
            <a:ext cx="10527487" cy="411480"/>
          </a:xfrm>
          <a:prstGeom prst="rect">
            <a:avLst/>
          </a:prstGeom>
          <a:noFill/>
          <a:ln/>
        </p:spPr>
        <p:txBody>
          <a:bodyPr wrap="square" lIns="0" tIns="0" rIns="0" bIns="0" rtlCol="0" anchor="ctr"/>
          <a:lstStyle/>
          <a:p>
            <a:pPr indent="0" marL="0">
              <a:buNone/>
            </a:pPr>
            <a:r>
              <a:rPr lang="en-US" sz="1300" b="1" dirty="0">
                <a:solidFill>
                  <a:schemeClr val="tx1"/>
                </a:solidFill>
              </a:rPr>
              <a:t>Límites que se mantienen: </a:t>
            </a:r>
            <a:pPr indent="0" marL="0">
              <a:buNone/>
            </a:pPr>
            <a:r>
              <a:rPr lang="en-US" sz="1300" dirty="0">
                <a:solidFill>
                  <a:schemeClr val="accent6"/>
                </a:solidFill>
              </a:rPr>
              <a:t>necesita internet para enlazar los dispositivos, y la extensión no funciona en las páginas internas de Chrome.</a:t>
            </a:r>
            <a:endParaRPr lang="en-US" sz="1300" dirty="0"/>
          </a:p>
        </p:txBody>
      </p:sp>
      <p:sp>
        <p:nvSpPr>
          <p:cNvPr id="25" name="Slide Number Placeholder 0"/>
          <p:cNvSpPr>
            <a:spLocks noGrp="1"/>
          </p:cNvSpPr>
          <p:nvPr>
            <p:ph type="sldNum" sz="quarter" idx="4294967295"/>
          </p:nvPr>
        </p:nvSpPr>
        <p:spPr>
          <a:xfrm>
            <a:off x="10820095" y="6382512"/>
            <a:ext cx="731520" cy="256032"/>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logo-cierre" descr="Logo de Presentazo">    </p:cNvPr>
          <p:cNvPicPr>
            <a:picLocks noChangeAspect="1"/>
          </p:cNvPicPr>
          <p:nvPr/>
        </p:nvPicPr>
        <p:blipFill>
          <a:blip r:embed="rId1"/>
          <a:stretch>
            <a:fillRect/>
          </a:stretch>
        </p:blipFill>
        <p:spPr>
          <a:xfrm>
            <a:off x="497434" y="685800"/>
            <a:ext cx="914400" cy="914400"/>
          </a:xfrm>
          <a:prstGeom prst="rect">
            <a:avLst/>
          </a:prstGeom>
        </p:spPr>
      </p:pic>
      <p:sp>
        <p:nvSpPr>
          <p:cNvPr id="3" name="Text 0"/>
          <p:cNvSpPr/>
          <p:nvPr>
            <p:ph idx="100" type="title" hasCustomPrompt="1"/>
          </p:nvPr>
        </p:nvSpPr>
        <p:spPr>
          <a:xfrm>
            <a:off x="640080" y="1874520"/>
            <a:ext cx="6949440" cy="914400"/>
          </a:xfrm>
          <a:prstGeom prst="rect">
            <a:avLst/>
          </a:prstGeom>
          <a:noFill/>
          <a:ln/>
        </p:spPr>
        <p:txBody>
          <a:bodyPr wrap="square" lIns="0" tIns="0" rIns="0" bIns="0" rtlCol="0" anchor="b"/>
          <a:lstStyle/>
          <a:p>
            <a:pPr algn="l" indent="0" marL="0">
              <a:buNone/>
            </a:pPr>
            <a:r>
              <a:rPr lang="en-US" sz="5200" b="1" dirty="0">
                <a:solidFill>
                  <a:schemeClr val="bg1"/>
                </a:solidFill>
              </a:rPr>
              <a:t>Presenta con libertad</a:t>
            </a:r>
            <a:endParaRPr lang="en-US" sz="5200" dirty="0"/>
          </a:p>
        </p:txBody>
      </p:sp>
      <p:sp>
        <p:nvSpPr>
          <p:cNvPr id="4" name="Text 0"/>
          <p:cNvSpPr/>
          <p:nvPr>
            <p:ph idx="101" type="body" hasCustomPrompt="1"/>
          </p:nvPr>
        </p:nvSpPr>
        <p:spPr>
          <a:xfrm>
            <a:off x="640080" y="2926080"/>
            <a:ext cx="6949440" cy="548640"/>
          </a:xfrm>
          <a:prstGeom prst="rect">
            <a:avLst/>
          </a:prstGeom>
          <a:noFill/>
          <a:ln/>
        </p:spPr>
        <p:txBody>
          <a:bodyPr wrap="square" lIns="0" tIns="0" rIns="0" bIns="0" rtlCol="0" anchor="t"/>
          <a:lstStyle/>
          <a:p>
            <a:pPr algn="l" indent="0" marL="0">
              <a:buNone/>
            </a:pPr>
            <a:r>
              <a:rPr lang="en-US" sz="2000" dirty="0">
                <a:solidFill>
                  <a:schemeClr val="accent5"/>
                </a:solidFill>
              </a:rPr>
              <a:t>Escanea, conecta y presenta desde tu celular.</a:t>
            </a:r>
            <a:endParaRPr lang="en-US" sz="2000" dirty="0"/>
          </a:p>
        </p:txBody>
      </p:sp>
      <p:pic>
        <p:nvPicPr>
          <p:cNvPr id="5" name="enlace-icono-238" descr="preencoded.png">    </p:cNvPr>
          <p:cNvPicPr>
            <a:picLocks noChangeAspect="1"/>
          </p:cNvPicPr>
          <p:nvPr/>
        </p:nvPicPr>
        <p:blipFill>
          <a:blip r:embed="rId2"/>
          <a:stretch>
            <a:fillRect/>
          </a:stretch>
        </p:blipFill>
        <p:spPr>
          <a:xfrm>
            <a:off x="640080" y="3995928"/>
            <a:ext cx="292608" cy="292608"/>
          </a:xfrm>
          <a:prstGeom prst="rect">
            <a:avLst/>
          </a:prstGeom>
        </p:spPr>
      </p:pic>
      <p:sp>
        <p:nvSpPr>
          <p:cNvPr id="6" name="enlace-239"/>
          <p:cNvSpPr txBox="1"/>
          <p:nvPr/>
        </p:nvSpPr>
        <p:spPr>
          <a:xfrm>
            <a:off x="1097280" y="3931920"/>
            <a:ext cx="5486400" cy="420624"/>
          </a:xfrm>
          <a:prstGeom prst="rect">
            <a:avLst/>
          </a:prstGeom>
          <a:noFill/>
          <a:ln/>
        </p:spPr>
        <p:txBody>
          <a:bodyPr wrap="square" lIns="0" tIns="0" rIns="0" bIns="0" rtlCol="0" anchor="ctr"/>
          <a:lstStyle/>
          <a:p>
            <a:pPr indent="0" marL="0">
              <a:buNone/>
            </a:pPr>
            <a:r>
              <a:rPr lang="en-US" sz="1600" dirty="0">
                <a:solidFill>
                  <a:schemeClr val="bg1"/>
                </a:solidFill>
              </a:rPr>
              <a:t>presentazo.com</a:t>
            </a:r>
            <a:endParaRPr lang="en-US" sz="1600" dirty="0"/>
          </a:p>
        </p:txBody>
      </p:sp>
      <p:pic>
        <p:nvPicPr>
          <p:cNvPr id="7" name="enlace-icono-240" descr="preencoded.png">    </p:cNvPr>
          <p:cNvPicPr>
            <a:picLocks noChangeAspect="1"/>
          </p:cNvPicPr>
          <p:nvPr/>
        </p:nvPicPr>
        <p:blipFill>
          <a:blip r:embed="rId3"/>
          <a:stretch>
            <a:fillRect/>
          </a:stretch>
        </p:blipFill>
        <p:spPr>
          <a:xfrm>
            <a:off x="640080" y="4562856"/>
            <a:ext cx="292608" cy="292608"/>
          </a:xfrm>
          <a:prstGeom prst="rect">
            <a:avLst/>
          </a:prstGeom>
        </p:spPr>
      </p:pic>
      <p:sp>
        <p:nvSpPr>
          <p:cNvPr id="8" name="enlace-241"/>
          <p:cNvSpPr txBox="1"/>
          <p:nvPr/>
        </p:nvSpPr>
        <p:spPr>
          <a:xfrm>
            <a:off x="1097280" y="4498848"/>
            <a:ext cx="5486400" cy="420624"/>
          </a:xfrm>
          <a:prstGeom prst="rect">
            <a:avLst/>
          </a:prstGeom>
          <a:noFill/>
          <a:ln/>
        </p:spPr>
        <p:txBody>
          <a:bodyPr wrap="square" lIns="0" tIns="0" rIns="0" bIns="0" rtlCol="0" anchor="ctr"/>
          <a:lstStyle/>
          <a:p>
            <a:pPr indent="0" marL="0">
              <a:buNone/>
            </a:pPr>
            <a:r>
              <a:rPr lang="en-US" sz="1600" dirty="0">
                <a:solidFill>
                  <a:schemeClr val="bg1"/>
                </a:solidFill>
              </a:rPr>
              <a:t>github.com/mjmc4498/presentazo</a:t>
            </a:r>
            <a:endParaRPr lang="en-US" sz="1600" dirty="0"/>
          </a:p>
        </p:txBody>
      </p:sp>
      <p:pic>
        <p:nvPicPr>
          <p:cNvPr id="9" name="enlace-icono-242" descr="preencoded.png">    </p:cNvPr>
          <p:cNvPicPr>
            <a:picLocks noChangeAspect="1"/>
          </p:cNvPicPr>
          <p:nvPr/>
        </p:nvPicPr>
        <p:blipFill>
          <a:blip r:embed="rId4"/>
          <a:stretch>
            <a:fillRect/>
          </a:stretch>
        </p:blipFill>
        <p:spPr>
          <a:xfrm>
            <a:off x="640080" y="5129784"/>
            <a:ext cx="292608" cy="292608"/>
          </a:xfrm>
          <a:prstGeom prst="rect">
            <a:avLst/>
          </a:prstGeom>
        </p:spPr>
      </p:pic>
      <p:sp>
        <p:nvSpPr>
          <p:cNvPr id="10" name="enlace-243"/>
          <p:cNvSpPr txBox="1"/>
          <p:nvPr/>
        </p:nvSpPr>
        <p:spPr>
          <a:xfrm>
            <a:off x="1097280" y="5065776"/>
            <a:ext cx="5486400" cy="420624"/>
          </a:xfrm>
          <a:prstGeom prst="rect">
            <a:avLst/>
          </a:prstGeom>
          <a:noFill/>
          <a:ln/>
        </p:spPr>
        <p:txBody>
          <a:bodyPr wrap="square" lIns="0" tIns="0" rIns="0" bIns="0" rtlCol="0" anchor="ctr"/>
          <a:lstStyle/>
          <a:p>
            <a:pPr indent="0" marL="0">
              <a:buNone/>
            </a:pPr>
            <a:r>
              <a:rPr lang="en-US" sz="1600" dirty="0">
                <a:solidFill>
                  <a:schemeClr val="bg1"/>
                </a:solidFill>
              </a:rPr>
              <a:t>Miguel Mogrovejo</a:t>
            </a:r>
            <a:endParaRPr lang="en-US" sz="1600" dirty="0"/>
          </a:p>
        </p:txBody>
      </p:sp>
      <p:sp>
        <p:nvSpPr>
          <p:cNvPr id="11" name="qr-tarjeta"/>
          <p:cNvSpPr/>
          <p:nvPr/>
        </p:nvSpPr>
        <p:spPr>
          <a:xfrm>
            <a:off x="8458200" y="1783080"/>
            <a:ext cx="3090672" cy="3703320"/>
          </a:xfrm>
          <a:prstGeom prst="roundRect">
            <a:avLst>
              <a:gd name="adj" fmla="val 6509"/>
            </a:avLst>
          </a:prstGeom>
          <a:solidFill>
            <a:schemeClr val="bg1"/>
          </a:solidFill>
          <a:ln/>
        </p:spPr>
      </p:sp>
      <p:pic>
        <p:nvPicPr>
          <p:cNvPr id="12" name="qr" descr="Código QR al repositorio de Presentazo en GitHub">    </p:cNvPr>
          <p:cNvPicPr>
            <a:picLocks noChangeAspect="1"/>
          </p:cNvPicPr>
          <p:nvPr/>
        </p:nvPicPr>
        <p:blipFill>
          <a:blip r:embed="rId5"/>
          <a:stretch>
            <a:fillRect/>
          </a:stretch>
        </p:blipFill>
        <p:spPr>
          <a:xfrm>
            <a:off x="8814816" y="2103120"/>
            <a:ext cx="2377440" cy="2377440"/>
          </a:xfrm>
          <a:prstGeom prst="rect">
            <a:avLst/>
          </a:prstGeom>
        </p:spPr>
      </p:pic>
      <p:sp>
        <p:nvSpPr>
          <p:cNvPr id="13" name="qr-texto"/>
          <p:cNvSpPr txBox="1"/>
          <p:nvPr/>
        </p:nvSpPr>
        <p:spPr>
          <a:xfrm>
            <a:off x="8641080" y="4709160"/>
            <a:ext cx="2724912" cy="457200"/>
          </a:xfrm>
          <a:prstGeom prst="rect">
            <a:avLst/>
          </a:prstGeom>
          <a:noFill/>
          <a:ln/>
        </p:spPr>
        <p:txBody>
          <a:bodyPr wrap="square" lIns="0" tIns="0" rIns="0" bIns="0" rtlCol="0" anchor="ctr"/>
          <a:lstStyle/>
          <a:p>
            <a:pPr algn="ctr" indent="0" marL="0">
              <a:buNone/>
            </a:pPr>
            <a:r>
              <a:rPr lang="en-US" sz="1400" b="1" dirty="0">
                <a:solidFill>
                  <a:schemeClr val="tx1"/>
                </a:solidFill>
              </a:rPr>
              <a:t>Escanea para ver el proyecto</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logo-final" descr="Logo de Presentazo">    </p:cNvPr>
          <p:cNvPicPr>
            <a:picLocks noChangeAspect="1"/>
          </p:cNvPicPr>
          <p:nvPr/>
        </p:nvPicPr>
        <p:blipFill>
          <a:blip r:embed="rId1"/>
          <a:stretch>
            <a:fillRect/>
          </a:stretch>
        </p:blipFill>
        <p:spPr>
          <a:xfrm>
            <a:off x="680314" y="1417320"/>
            <a:ext cx="1143000" cy="1143000"/>
          </a:xfrm>
          <a:prstGeom prst="rect">
            <a:avLst/>
          </a:prstGeom>
        </p:spPr>
      </p:pic>
      <p:sp>
        <p:nvSpPr>
          <p:cNvPr id="3" name="Text 0"/>
          <p:cNvSpPr/>
          <p:nvPr>
            <p:ph idx="100" type="title" hasCustomPrompt="1"/>
          </p:nvPr>
        </p:nvSpPr>
        <p:spPr>
          <a:xfrm>
            <a:off x="822960" y="2788920"/>
            <a:ext cx="5257800" cy="1051560"/>
          </a:xfrm>
          <a:prstGeom prst="rect">
            <a:avLst/>
          </a:prstGeom>
          <a:noFill/>
          <a:ln/>
        </p:spPr>
        <p:txBody>
          <a:bodyPr wrap="square" lIns="0" tIns="0" rIns="0" bIns="0" rtlCol="0" anchor="b"/>
          <a:lstStyle/>
          <a:p>
            <a:pPr algn="l" indent="0" marL="0">
              <a:buNone/>
            </a:pPr>
            <a:r>
              <a:rPr lang="en-US" sz="6000" b="1" dirty="0">
                <a:solidFill>
                  <a:schemeClr val="bg1"/>
                </a:solidFill>
              </a:rPr>
              <a:t>Gracias</a:t>
            </a:r>
            <a:endParaRPr lang="en-US" sz="6000" dirty="0"/>
          </a:p>
        </p:txBody>
      </p:sp>
      <p:sp>
        <p:nvSpPr>
          <p:cNvPr id="4" name="Text 0"/>
          <p:cNvSpPr/>
          <p:nvPr>
            <p:ph idx="101" type="body" hasCustomPrompt="1"/>
          </p:nvPr>
        </p:nvSpPr>
        <p:spPr>
          <a:xfrm>
            <a:off x="822960" y="3977640"/>
            <a:ext cx="5120640" cy="914400"/>
          </a:xfrm>
          <a:prstGeom prst="rect">
            <a:avLst/>
          </a:prstGeom>
          <a:noFill/>
          <a:ln/>
        </p:spPr>
        <p:txBody>
          <a:bodyPr wrap="square" lIns="0" tIns="0" rIns="0" bIns="0" rtlCol="0" anchor="t"/>
          <a:lstStyle/>
          <a:p>
            <a:pPr algn="l" indent="0" marL="0">
              <a:buNone/>
            </a:pPr>
            <a:r>
              <a:rPr lang="en-US" sz="2000" dirty="0">
                <a:solidFill>
                  <a:schemeClr val="accent5"/>
                </a:solidFill>
              </a:rPr>
              <a:t>¿Preguntas?</a:t>
            </a:r>
            <a:endParaRPr lang="en-US" sz="2000" dirty="0"/>
          </a:p>
        </p:txBody>
      </p:sp>
      <p:sp>
        <p:nvSpPr>
          <p:cNvPr id="5" name="Text 0"/>
          <p:cNvSpPr/>
          <p:nvPr>
            <p:ph idx="102" type="body" hasCustomPrompt="1"/>
          </p:nvPr>
        </p:nvSpPr>
        <p:spPr>
          <a:xfrm>
            <a:off x="822960" y="5760720"/>
            <a:ext cx="4754880" cy="365760"/>
          </a:xfrm>
          <a:prstGeom prst="rect">
            <a:avLst/>
          </a:prstGeom>
          <a:noFill/>
          <a:ln/>
        </p:spPr>
        <p:txBody>
          <a:bodyPr wrap="square" lIns="0" tIns="0" rIns="0" bIns="0" rtlCol="0" anchor="ctr"/>
          <a:lstStyle/>
          <a:p>
            <a:pPr algn="l" indent="0" marL="0">
              <a:buNone/>
            </a:pPr>
            <a:r>
              <a:rPr lang="en-US" sz="1200" dirty="0">
                <a:solidFill>
                  <a:schemeClr val="accent5"/>
                </a:solidFill>
              </a:rPr>
              <a:t>Miguel Mogrovejo · presentazo.com</a:t>
            </a:r>
            <a:endParaRPr lang="en-US" sz="1200" dirty="0"/>
          </a:p>
        </p:txBody>
      </p:sp>
      <p:sp>
        <p:nvSpPr>
          <p:cNvPr id="6" name="marco-244"/>
          <p:cNvSpPr/>
          <p:nvPr/>
        </p:nvSpPr>
        <p:spPr>
          <a:xfrm>
            <a:off x="6126480" y="1691640"/>
            <a:ext cx="4754880" cy="2674620"/>
          </a:xfrm>
          <a:prstGeom prst="rect">
            <a:avLst/>
          </a:prstGeom>
          <a:solidFill>
            <a:schemeClr val="bg1"/>
          </a:solidFill>
          <a:ln w="12700">
            <a:solidFill>
              <a:srgbClr val="3A3A3C"/>
            </a:solidFill>
            <a:prstDash val="solid"/>
          </a:ln>
        </p:spPr>
      </p:sp>
      <p:pic>
        <p:nvPicPr>
          <p:cNvPr id="7" name="captura-245" descr="Diapositiva con anotaciones del lápiz de Presentazo">    </p:cNvPr>
          <p:cNvPicPr>
            <a:picLocks noChangeAspect="1"/>
          </p:cNvPicPr>
          <p:nvPr/>
        </p:nvPicPr>
        <p:blipFill>
          <a:blip r:embed="rId2"/>
          <a:stretch>
            <a:fillRect/>
          </a:stretch>
        </p:blipFill>
        <p:spPr>
          <a:xfrm>
            <a:off x="6126480" y="1691640"/>
            <a:ext cx="4754880" cy="2674620"/>
          </a:xfrm>
          <a:prstGeom prst="rect">
            <a:avLst/>
          </a:prstGeom>
        </p:spPr>
      </p:pic>
      <p:pic>
        <p:nvPicPr>
          <p:cNvPr id="8" name="celular-246" descr="Pantalla del lápiz en el control">    </p:cNvPr>
          <p:cNvPicPr>
            <a:picLocks noChangeAspect="1"/>
          </p:cNvPicPr>
          <p:nvPr/>
        </p:nvPicPr>
        <p:blipFill>
          <a:blip r:embed="rId3"/>
          <a:stretch>
            <a:fillRect/>
          </a:stretch>
        </p:blipFill>
        <p:spPr>
          <a:xfrm>
            <a:off x="9326880" y="960120"/>
            <a:ext cx="2349142" cy="4937760"/>
          </a:xfrm>
          <a:prstGeom prst="rect">
            <a:avLst/>
          </a:prstGeom>
        </p:spPr>
      </p:pic>
    </p:spTree>
  </p:cSld>
  <p:clrMapOvr>
    <a:masterClrMapping/>
  </p:clrMapOvr>
</p:sld>
</file>

<file path=ppt/theme/theme1.xml><?xml version="1.0" encoding="utf-8"?>
<a:theme xmlns:a="http://schemas.openxmlformats.org/drawingml/2006/main" name="Presentazo">
  <a:themeElements>
    <a:clrScheme name="Presentazo">
      <a:dk1>
        <a:srgbClr val="0B0B0C"/>
      </a:dk1>
      <a:lt1>
        <a:srgbClr val="FFFFFF"/>
      </a:lt1>
      <a:dk2>
        <a:srgbClr val="1C1C1E"/>
      </a:dk2>
      <a:lt2>
        <a:srgbClr val="F5F5F7"/>
      </a:lt2>
      <a:accent1>
        <a:srgbClr val="FF3B30"/>
      </a:accent1>
      <a:accent2>
        <a:srgbClr val="34C759"/>
      </a:accent2>
      <a:accent3>
        <a:srgbClr val="0A84FF"/>
      </a:accent3>
      <a:accent4>
        <a:srgbClr val="FFD60A"/>
      </a:accent4>
      <a:accent5>
        <a:srgbClr val="8E8E93"/>
      </a:accent5>
      <a:accent6>
        <a:srgbClr val="6E6E73"/>
      </a:accent6>
      <a:hlink>
        <a:srgbClr val="0A84FF"/>
      </a:hlink>
      <a:folHlink>
        <a:srgbClr val="8E8E93"/>
      </a:folHlink>
    </a:clrScheme>
    <a:fontScheme name="Presentazo">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Presentazo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Presentazo: control remoto de presentaciones</dc:title>
  <dc:subject>Qué es Presentazo, cómo se usa y qué beneficios ofrece</dc:subject>
  <dc:creator>Miguel Mogrovejo</dc:creator>
  <cp:lastModifiedBy>Miguel Mogrovejo</cp:lastModifiedBy>
  <cp:revision>1</cp:revision>
  <dcterms:created xsi:type="dcterms:W3CDTF">2026-10-17T00:00:08Z</dcterms:created>
  <dcterms:modified xsi:type="dcterms:W3CDTF">2026-10-17T00:00:08Z</dcterms:modified>
</cp:coreProperties>
</file>